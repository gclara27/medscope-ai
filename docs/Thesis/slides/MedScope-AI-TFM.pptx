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notesView">
  <p:normalViewPr>
    <p:restoredLeft sz="15622" autoAdjust="0"/>
    <p:restoredTop sz="94641" autoAdjust="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76" d="100"/>
        <a:sy n="176" d="100"/>
      </p:scale>
      <p:origin x="0" y="0"/>
    </p:cViewPr>
  </p:notesTextViewPr>
  <p:notesViewPr>
    <p:cSldViewPr snapToGrid="0" snapToObjects="1">
      <p:cViewPr varScale="1">
        <p:scale>
          <a:sx n="141" d="100"/>
          <a:sy n="141" d="100"/>
        </p:scale>
        <p:origin x="3490" y="5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2CDEBF-7478-4584-97F5-217DD9F50D0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BC5CD0-964A-412E-BAD3-D4ECB486B5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2634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«Hola. Mi </a:t>
            </a:r>
            <a:r>
              <a:rPr lang="en-US" dirty="0" err="1"/>
              <a:t>nombre</a:t>
            </a:r>
            <a:r>
              <a:rPr lang="en-US" dirty="0"/>
              <a:t> es </a:t>
            </a:r>
            <a:r>
              <a:rPr lang="en-US" b="1" dirty="0"/>
              <a:t>Gastón Clara </a:t>
            </a:r>
            <a:r>
              <a:rPr lang="en-US" dirty="0"/>
              <a:t> y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voi</a:t>
            </a:r>
            <a:r>
              <a:rPr lang="en-US" dirty="0"/>
              <a:t> a </a:t>
            </a:r>
            <a:r>
              <a:rPr lang="en-US" dirty="0" err="1"/>
              <a:t>presentar</a:t>
            </a:r>
            <a:r>
              <a:rPr lang="en-US" dirty="0"/>
              <a:t> mi </a:t>
            </a:r>
            <a:r>
              <a:rPr lang="en-US" dirty="0" err="1"/>
              <a:t>Trabajo</a:t>
            </a:r>
            <a:r>
              <a:rPr lang="en-US" dirty="0"/>
              <a:t> Final de </a:t>
            </a:r>
            <a:r>
              <a:rPr lang="en-US" dirty="0" err="1"/>
              <a:t>Máster</a:t>
            </a:r>
            <a:r>
              <a:rPr lang="en-US" dirty="0"/>
              <a:t>: </a:t>
            </a:r>
            <a:r>
              <a:rPr lang="en-US" b="1" dirty="0" err="1"/>
              <a:t>MedScope</a:t>
            </a:r>
            <a:r>
              <a:rPr lang="en-US" b="1" dirty="0"/>
              <a:t> AI.</a:t>
            </a:r>
          </a:p>
          <a:p>
            <a:endParaRPr lang="en-US" dirty="0"/>
          </a:p>
          <a:p>
            <a:r>
              <a:rPr lang="en-US" b="1" dirty="0" err="1"/>
              <a:t>MedScope</a:t>
            </a:r>
            <a:r>
              <a:rPr lang="en-US" b="1" dirty="0"/>
              <a:t> AI es </a:t>
            </a:r>
            <a:r>
              <a:rPr lang="en-US" dirty="0"/>
              <a:t>un </a:t>
            </a:r>
            <a:r>
              <a:rPr lang="en-US" dirty="0" err="1"/>
              <a:t>sistema</a:t>
            </a:r>
            <a:r>
              <a:rPr lang="en-US" dirty="0"/>
              <a:t> de </a:t>
            </a:r>
            <a:r>
              <a:rPr lang="en-US" dirty="0" err="1"/>
              <a:t>apoyo</a:t>
            </a:r>
            <a:r>
              <a:rPr lang="en-US" dirty="0"/>
              <a:t> a la </a:t>
            </a:r>
            <a:r>
              <a:rPr lang="en-US" dirty="0" err="1"/>
              <a:t>decisión</a:t>
            </a:r>
            <a:r>
              <a:rPr lang="en-US" dirty="0"/>
              <a:t> </a:t>
            </a:r>
            <a:r>
              <a:rPr lang="en-US" dirty="0" err="1"/>
              <a:t>clínica</a:t>
            </a:r>
            <a:r>
              <a:rPr lang="en-US" dirty="0"/>
              <a:t> </a:t>
            </a:r>
            <a:r>
              <a:rPr lang="en-US" dirty="0" err="1"/>
              <a:t>basado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inteligencia</a:t>
            </a:r>
            <a:r>
              <a:rPr lang="en-US" dirty="0"/>
              <a:t> artificial explicable.</a:t>
            </a:r>
          </a:p>
          <a:p>
            <a:endParaRPr lang="en-US" dirty="0"/>
          </a:p>
          <a:p>
            <a:r>
              <a:rPr lang="en-US" dirty="0"/>
              <a:t>En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próximos</a:t>
            </a:r>
            <a:r>
              <a:rPr lang="en-US" dirty="0"/>
              <a:t> </a:t>
            </a:r>
            <a:r>
              <a:rPr lang="en-US" dirty="0" err="1"/>
              <a:t>minutos</a:t>
            </a:r>
            <a:r>
              <a:rPr lang="en-US" dirty="0"/>
              <a:t> </a:t>
            </a:r>
            <a:r>
              <a:rPr lang="en-US" dirty="0" err="1"/>
              <a:t>voy</a:t>
            </a:r>
            <a:r>
              <a:rPr lang="en-US" dirty="0"/>
              <a:t> a </a:t>
            </a:r>
            <a:r>
              <a:rPr lang="en-US" dirty="0" err="1"/>
              <a:t>explicar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problema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aborda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proyecto</a:t>
            </a:r>
            <a:r>
              <a:rPr lang="en-US" dirty="0"/>
              <a:t>, la </a:t>
            </a:r>
            <a:r>
              <a:rPr lang="en-US" dirty="0" err="1"/>
              <a:t>arquitectura</a:t>
            </a:r>
            <a:r>
              <a:rPr lang="en-US" dirty="0"/>
              <a:t> </a:t>
            </a:r>
            <a:r>
              <a:rPr lang="en-US" dirty="0" err="1"/>
              <a:t>técnica</a:t>
            </a:r>
            <a:r>
              <a:rPr lang="en-US" dirty="0"/>
              <a:t>,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resultados</a:t>
            </a:r>
            <a:r>
              <a:rPr lang="en-US" dirty="0"/>
              <a:t> del </a:t>
            </a:r>
            <a:r>
              <a:rPr lang="en-US" dirty="0" err="1"/>
              <a:t>modelo</a:t>
            </a:r>
            <a:r>
              <a:rPr lang="en-US" dirty="0"/>
              <a:t> de machine learning, y — lo </a:t>
            </a:r>
            <a:r>
              <a:rPr lang="en-US" dirty="0" err="1"/>
              <a:t>más</a:t>
            </a:r>
            <a:r>
              <a:rPr lang="en-US" dirty="0"/>
              <a:t> </a:t>
            </a:r>
            <a:r>
              <a:rPr lang="en-US" dirty="0" err="1"/>
              <a:t>importante</a:t>
            </a:r>
            <a:r>
              <a:rPr lang="en-US" dirty="0"/>
              <a:t> — </a:t>
            </a:r>
            <a:r>
              <a:rPr lang="en-US" dirty="0" err="1"/>
              <a:t>una</a:t>
            </a:r>
            <a:r>
              <a:rPr lang="en-US" dirty="0"/>
              <a:t> </a:t>
            </a:r>
            <a:r>
              <a:rPr lang="en-US" b="1" dirty="0" err="1"/>
              <a:t>demostración</a:t>
            </a:r>
            <a:r>
              <a:rPr lang="en-US" b="1" dirty="0"/>
              <a:t> </a:t>
            </a:r>
            <a:r>
              <a:rPr lang="en-US" b="1" dirty="0" err="1"/>
              <a:t>en</a:t>
            </a:r>
            <a:r>
              <a:rPr lang="en-US" b="1" dirty="0"/>
              <a:t> vivo</a:t>
            </a:r>
            <a:r>
              <a:rPr lang="en-US" dirty="0"/>
              <a:t> de la </a:t>
            </a:r>
            <a:r>
              <a:rPr lang="en-US" dirty="0" err="1"/>
              <a:t>plataforma</a:t>
            </a:r>
            <a:r>
              <a:rPr lang="en-US" dirty="0"/>
              <a:t> </a:t>
            </a:r>
            <a:r>
              <a:rPr lang="en-US" dirty="0" err="1"/>
              <a:t>desplegada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la </a:t>
            </a:r>
            <a:r>
              <a:rPr lang="en-US" dirty="0" err="1"/>
              <a:t>nube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Antes de </a:t>
            </a:r>
            <a:r>
              <a:rPr lang="en-US" dirty="0" err="1"/>
              <a:t>empezar</a:t>
            </a:r>
            <a:r>
              <a:rPr lang="en-US" dirty="0"/>
              <a:t>,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aclaración</a:t>
            </a:r>
            <a:r>
              <a:rPr lang="en-US" dirty="0"/>
              <a:t> </a:t>
            </a:r>
            <a:r>
              <a:rPr lang="en-US" dirty="0" err="1"/>
              <a:t>importante</a:t>
            </a:r>
            <a:r>
              <a:rPr lang="en-US" dirty="0"/>
              <a:t>: </a:t>
            </a:r>
            <a:r>
              <a:rPr lang="en-US" dirty="0" err="1"/>
              <a:t>MedScope</a:t>
            </a:r>
            <a:r>
              <a:rPr lang="en-US" dirty="0"/>
              <a:t> AI </a:t>
            </a:r>
            <a:r>
              <a:rPr lang="en-US" b="1" dirty="0"/>
              <a:t>no </a:t>
            </a:r>
            <a:r>
              <a:rPr lang="en-US" b="1" dirty="0" err="1"/>
              <a:t>diagnostica</a:t>
            </a:r>
            <a:r>
              <a:rPr lang="en-US" dirty="0"/>
              <a:t> </a:t>
            </a:r>
            <a:r>
              <a:rPr lang="en-US" dirty="0" err="1"/>
              <a:t>ni</a:t>
            </a:r>
            <a:r>
              <a:rPr lang="en-US" dirty="0"/>
              <a:t> prescribe </a:t>
            </a:r>
            <a:r>
              <a:rPr lang="en-US" dirty="0" err="1"/>
              <a:t>tratamientos</a:t>
            </a:r>
            <a:r>
              <a:rPr lang="en-US" dirty="0"/>
              <a:t>. Es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herramienta</a:t>
            </a:r>
            <a:r>
              <a:rPr lang="en-US" dirty="0"/>
              <a:t> de </a:t>
            </a:r>
            <a:r>
              <a:rPr lang="en-US" b="1" dirty="0" err="1"/>
              <a:t>apoyo</a:t>
            </a:r>
            <a:r>
              <a:rPr lang="en-US" b="1" dirty="0"/>
              <a:t> a la </a:t>
            </a:r>
            <a:r>
              <a:rPr lang="en-US" b="1" dirty="0" err="1"/>
              <a:t>decisión</a:t>
            </a:r>
            <a:r>
              <a:rPr lang="en-US" dirty="0"/>
              <a:t> para </a:t>
            </a:r>
            <a:r>
              <a:rPr lang="en-US" dirty="0" err="1"/>
              <a:t>ayudar</a:t>
            </a:r>
            <a:r>
              <a:rPr lang="en-US" dirty="0"/>
              <a:t> a </a:t>
            </a:r>
            <a:r>
              <a:rPr lang="en-US" dirty="0" err="1"/>
              <a:t>equipos</a:t>
            </a:r>
            <a:r>
              <a:rPr lang="en-US" dirty="0"/>
              <a:t> </a:t>
            </a:r>
            <a:r>
              <a:rPr lang="en-US" dirty="0" err="1"/>
              <a:t>clínicos</a:t>
            </a:r>
            <a:r>
              <a:rPr lang="en-US" dirty="0"/>
              <a:t> a </a:t>
            </a:r>
            <a:r>
              <a:rPr lang="en-US" dirty="0" err="1"/>
              <a:t>anticipar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riesgo</a:t>
            </a:r>
            <a:r>
              <a:rPr lang="en-US" dirty="0"/>
              <a:t> de </a:t>
            </a:r>
            <a:r>
              <a:rPr lang="en-US" dirty="0" err="1"/>
              <a:t>readmisión</a:t>
            </a:r>
            <a:r>
              <a:rPr lang="en-US" dirty="0"/>
              <a:t> </a:t>
            </a:r>
            <a:r>
              <a:rPr lang="en-US" dirty="0" err="1"/>
              <a:t>hospitalaria</a:t>
            </a:r>
            <a:r>
              <a:rPr lang="en-US" dirty="0"/>
              <a:t>.»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C5CD0-964A-412E-BAD3-D4ECB486B5E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4114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«Hoy </a:t>
            </a:r>
            <a:r>
              <a:rPr lang="en-US" dirty="0" err="1"/>
              <a:t>en</a:t>
            </a:r>
            <a:r>
              <a:rPr lang="en-US" dirty="0"/>
              <a:t> día, las </a:t>
            </a:r>
            <a:r>
              <a:rPr lang="en-US" dirty="0" err="1"/>
              <a:t>readmisiones</a:t>
            </a:r>
            <a:r>
              <a:rPr lang="en-US" dirty="0"/>
              <a:t> </a:t>
            </a:r>
            <a:r>
              <a:rPr lang="en-US" dirty="0" err="1"/>
              <a:t>hospitalarias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primeros </a:t>
            </a:r>
            <a:r>
              <a:rPr lang="en-US" dirty="0" err="1"/>
              <a:t>treinta</a:t>
            </a:r>
            <a:r>
              <a:rPr lang="en-US" dirty="0"/>
              <a:t> días </a:t>
            </a:r>
            <a:r>
              <a:rPr lang="en-US" dirty="0" err="1"/>
              <a:t>suponen</a:t>
            </a:r>
            <a:r>
              <a:rPr lang="en-US" dirty="0"/>
              <a:t> un </a:t>
            </a:r>
            <a:r>
              <a:rPr lang="en-US" dirty="0" err="1"/>
              <a:t>coste</a:t>
            </a:r>
            <a:r>
              <a:rPr lang="en-US" dirty="0"/>
              <a:t> </a:t>
            </a:r>
            <a:r>
              <a:rPr lang="en-US" dirty="0" err="1"/>
              <a:t>muy</a:t>
            </a:r>
            <a:r>
              <a:rPr lang="en-US" dirty="0"/>
              <a:t> </a:t>
            </a:r>
            <a:r>
              <a:rPr lang="en-US" dirty="0" err="1"/>
              <a:t>elevado</a:t>
            </a:r>
            <a:r>
              <a:rPr lang="en-US" dirty="0"/>
              <a:t> y,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muchos</a:t>
            </a:r>
            <a:r>
              <a:rPr lang="en-US" dirty="0"/>
              <a:t> </a:t>
            </a:r>
            <a:r>
              <a:rPr lang="en-US" dirty="0" err="1"/>
              <a:t>casos</a:t>
            </a:r>
            <a:r>
              <a:rPr lang="en-US" dirty="0"/>
              <a:t>, son </a:t>
            </a:r>
            <a:r>
              <a:rPr lang="en-US" dirty="0" err="1"/>
              <a:t>prevenibles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se </a:t>
            </a:r>
            <a:r>
              <a:rPr lang="en-US" dirty="0" err="1"/>
              <a:t>identifica</a:t>
            </a:r>
            <a:r>
              <a:rPr lang="en-US" dirty="0"/>
              <a:t> a </a:t>
            </a:r>
            <a:r>
              <a:rPr lang="en-US" dirty="0" err="1"/>
              <a:t>tiempo</a:t>
            </a:r>
            <a:r>
              <a:rPr lang="en-US" dirty="0"/>
              <a:t> al </a:t>
            </a:r>
            <a:r>
              <a:rPr lang="en-US" dirty="0" err="1"/>
              <a:t>paciente</a:t>
            </a:r>
            <a:r>
              <a:rPr lang="en-US" dirty="0"/>
              <a:t> de alto </a:t>
            </a:r>
            <a:r>
              <a:rPr lang="en-US" dirty="0" err="1"/>
              <a:t>riesgo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El </a:t>
            </a:r>
            <a:r>
              <a:rPr lang="en-US" dirty="0" err="1"/>
              <a:t>problema</a:t>
            </a:r>
            <a:r>
              <a:rPr lang="en-US" dirty="0"/>
              <a:t> es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sistemas</a:t>
            </a:r>
            <a:r>
              <a:rPr lang="en-US" dirty="0"/>
              <a:t> de </a:t>
            </a:r>
            <a:r>
              <a:rPr lang="en-US" dirty="0" err="1"/>
              <a:t>información</a:t>
            </a:r>
            <a:r>
              <a:rPr lang="en-US" dirty="0"/>
              <a:t> </a:t>
            </a:r>
            <a:r>
              <a:rPr lang="en-US" dirty="0" err="1"/>
              <a:t>hospitalaria</a:t>
            </a:r>
            <a:r>
              <a:rPr lang="en-US" dirty="0"/>
              <a:t> </a:t>
            </a:r>
            <a:r>
              <a:rPr lang="en-US" b="1" dirty="0" err="1"/>
              <a:t>almacenan</a:t>
            </a:r>
            <a:r>
              <a:rPr lang="en-US" dirty="0"/>
              <a:t> </a:t>
            </a:r>
            <a:r>
              <a:rPr lang="en-US" dirty="0" err="1"/>
              <a:t>datos</a:t>
            </a:r>
            <a:r>
              <a:rPr lang="en-US" dirty="0"/>
              <a:t>, </a:t>
            </a:r>
            <a:r>
              <a:rPr lang="en-US" dirty="0" err="1"/>
              <a:t>pero</a:t>
            </a:r>
            <a:r>
              <a:rPr lang="en-US" dirty="0"/>
              <a:t> no </a:t>
            </a:r>
            <a:r>
              <a:rPr lang="en-US" dirty="0" err="1"/>
              <a:t>siempre</a:t>
            </a:r>
            <a:r>
              <a:rPr lang="en-US" dirty="0"/>
              <a:t> </a:t>
            </a:r>
            <a:r>
              <a:rPr lang="en-US" dirty="0" err="1"/>
              <a:t>ayudan</a:t>
            </a:r>
            <a:r>
              <a:rPr lang="en-US" dirty="0"/>
              <a:t> al </a:t>
            </a:r>
            <a:r>
              <a:rPr lang="en-US" dirty="0" err="1"/>
              <a:t>clínico</a:t>
            </a:r>
            <a:r>
              <a:rPr lang="en-US" dirty="0"/>
              <a:t> a </a:t>
            </a:r>
            <a:r>
              <a:rPr lang="en-US" b="1" dirty="0" err="1"/>
              <a:t>anticipar</a:t>
            </a:r>
            <a:r>
              <a:rPr lang="en-US" dirty="0"/>
              <a:t> ese </a:t>
            </a:r>
            <a:r>
              <a:rPr lang="en-US" dirty="0" err="1"/>
              <a:t>riesgo</a:t>
            </a:r>
            <a:r>
              <a:rPr lang="en-US" dirty="0"/>
              <a:t> de forma </a:t>
            </a:r>
            <a:r>
              <a:rPr lang="en-US" dirty="0" err="1"/>
              <a:t>clara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Cuando </a:t>
            </a:r>
            <a:r>
              <a:rPr lang="en-US" dirty="0" err="1"/>
              <a:t>usamos</a:t>
            </a:r>
            <a:r>
              <a:rPr lang="en-US" dirty="0"/>
              <a:t> </a:t>
            </a:r>
            <a:r>
              <a:rPr lang="en-US" dirty="0" err="1"/>
              <a:t>inteligencia</a:t>
            </a:r>
            <a:r>
              <a:rPr lang="en-US" dirty="0"/>
              <a:t> artificial, </a:t>
            </a:r>
            <a:r>
              <a:rPr lang="en-US" dirty="0" err="1"/>
              <a:t>aparece</a:t>
            </a:r>
            <a:r>
              <a:rPr lang="en-US" dirty="0"/>
              <a:t> </a:t>
            </a:r>
            <a:r>
              <a:rPr lang="en-US" dirty="0" err="1"/>
              <a:t>otro</a:t>
            </a:r>
            <a:r>
              <a:rPr lang="en-US" dirty="0"/>
              <a:t> </a:t>
            </a:r>
            <a:r>
              <a:rPr lang="en-US" dirty="0" err="1"/>
              <a:t>problema</a:t>
            </a:r>
            <a:r>
              <a:rPr lang="en-US" dirty="0"/>
              <a:t>: la </a:t>
            </a:r>
            <a:r>
              <a:rPr lang="en-US" b="1" dirty="0" err="1"/>
              <a:t>caja</a:t>
            </a:r>
            <a:r>
              <a:rPr lang="en-US" b="1" dirty="0"/>
              <a:t> </a:t>
            </a:r>
            <a:r>
              <a:rPr lang="en-US" b="1" dirty="0" err="1"/>
              <a:t>negra</a:t>
            </a:r>
            <a:r>
              <a:rPr lang="en-US" dirty="0"/>
              <a:t>. Un </a:t>
            </a:r>
            <a:r>
              <a:rPr lang="en-US" dirty="0" err="1"/>
              <a:t>porcentaje</a:t>
            </a:r>
            <a:r>
              <a:rPr lang="en-US" dirty="0"/>
              <a:t> sin </a:t>
            </a:r>
            <a:r>
              <a:rPr lang="en-US" dirty="0" err="1"/>
              <a:t>contexto</a:t>
            </a:r>
            <a:r>
              <a:rPr lang="en-US" dirty="0"/>
              <a:t> genera </a:t>
            </a:r>
            <a:r>
              <a:rPr lang="en-US" dirty="0" err="1"/>
              <a:t>desconfianza</a:t>
            </a:r>
            <a:r>
              <a:rPr lang="en-US" dirty="0"/>
              <a:t>. Por </a:t>
            </a:r>
            <a:r>
              <a:rPr lang="en-US" dirty="0" err="1"/>
              <a:t>eso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proyecto</a:t>
            </a:r>
            <a:r>
              <a:rPr lang="en-US" dirty="0"/>
              <a:t> no se </a:t>
            </a:r>
            <a:r>
              <a:rPr lang="en-US" dirty="0" err="1"/>
              <a:t>queda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un </a:t>
            </a:r>
            <a:r>
              <a:rPr lang="en-US" dirty="0" err="1"/>
              <a:t>número</a:t>
            </a:r>
            <a:r>
              <a:rPr lang="en-US" dirty="0"/>
              <a:t>: </a:t>
            </a:r>
            <a:r>
              <a:rPr lang="en-US" dirty="0" err="1"/>
              <a:t>añade</a:t>
            </a:r>
            <a:r>
              <a:rPr lang="en-US" dirty="0"/>
              <a:t> </a:t>
            </a:r>
            <a:r>
              <a:rPr lang="en-US" b="1" dirty="0" err="1"/>
              <a:t>explicabilidad</a:t>
            </a:r>
            <a:r>
              <a:rPr lang="en-US" dirty="0"/>
              <a:t> con SHAP y </a:t>
            </a:r>
            <a:r>
              <a:rPr lang="en-US" b="1" dirty="0" err="1"/>
              <a:t>simulación</a:t>
            </a:r>
            <a:r>
              <a:rPr lang="en-US" dirty="0"/>
              <a:t> de </a:t>
            </a:r>
            <a:r>
              <a:rPr lang="en-US" dirty="0" err="1"/>
              <a:t>escenarios</a:t>
            </a:r>
            <a:r>
              <a:rPr lang="en-US" dirty="0"/>
              <a:t> </a:t>
            </a:r>
            <a:r>
              <a:rPr lang="en-US" dirty="0" err="1"/>
              <a:t>clínicos</a:t>
            </a:r>
            <a:r>
              <a:rPr lang="en-US" dirty="0"/>
              <a:t> </a:t>
            </a:r>
            <a:r>
              <a:rPr lang="en-US" dirty="0" err="1"/>
              <a:t>hipotéticos</a:t>
            </a:r>
            <a:r>
              <a:rPr lang="en-US" dirty="0"/>
              <a:t>.»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C5CD0-964A-412E-BAD3-D4ECB486B5E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2248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</a:t>
            </a:r>
            <a:r>
              <a:rPr lang="en-US" dirty="0" err="1"/>
              <a:t>MedScope</a:t>
            </a:r>
            <a:r>
              <a:rPr lang="en-US" dirty="0"/>
              <a:t> AI es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plataforma</a:t>
            </a:r>
            <a:r>
              <a:rPr lang="en-US" dirty="0"/>
              <a:t> web </a:t>
            </a:r>
            <a:r>
              <a:rPr lang="en-US" dirty="0" err="1"/>
              <a:t>que</a:t>
            </a:r>
            <a:r>
              <a:rPr lang="en-US" dirty="0"/>
              <a:t> integra cuatro </a:t>
            </a:r>
            <a:r>
              <a:rPr lang="en-US" dirty="0" err="1"/>
              <a:t>piezas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un solo </a:t>
            </a:r>
            <a:r>
              <a:rPr lang="en-US" dirty="0" err="1"/>
              <a:t>flujo</a:t>
            </a:r>
            <a:r>
              <a:rPr lang="en-US" dirty="0"/>
              <a:t> de </a:t>
            </a:r>
            <a:r>
              <a:rPr lang="en-US" dirty="0" err="1"/>
              <a:t>trabajo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Primero: </a:t>
            </a:r>
            <a:r>
              <a:rPr lang="en-US" b="1" dirty="0" err="1"/>
              <a:t>predicción</a:t>
            </a:r>
            <a:r>
              <a:rPr lang="en-US" dirty="0"/>
              <a:t> del </a:t>
            </a:r>
            <a:r>
              <a:rPr lang="en-US" dirty="0" err="1"/>
              <a:t>riesgo</a:t>
            </a:r>
            <a:r>
              <a:rPr lang="en-US" dirty="0"/>
              <a:t> de </a:t>
            </a:r>
            <a:r>
              <a:rPr lang="en-US" dirty="0" err="1"/>
              <a:t>readmisión</a:t>
            </a:r>
            <a:r>
              <a:rPr lang="en-US" dirty="0"/>
              <a:t> a </a:t>
            </a:r>
            <a:r>
              <a:rPr lang="en-US" dirty="0" err="1"/>
              <a:t>treinta</a:t>
            </a:r>
            <a:r>
              <a:rPr lang="en-US" dirty="0"/>
              <a:t> días, </a:t>
            </a:r>
            <a:r>
              <a:rPr lang="en-US" dirty="0" err="1"/>
              <a:t>usando</a:t>
            </a:r>
            <a:r>
              <a:rPr lang="en-US" dirty="0"/>
              <a:t> un </a:t>
            </a:r>
            <a:r>
              <a:rPr lang="en-US" dirty="0" err="1"/>
              <a:t>modelo</a:t>
            </a:r>
            <a:r>
              <a:rPr lang="en-US" dirty="0"/>
              <a:t> </a:t>
            </a:r>
            <a:r>
              <a:rPr lang="en-US" dirty="0" err="1"/>
              <a:t>entrenado</a:t>
            </a:r>
            <a:r>
              <a:rPr lang="en-US" dirty="0"/>
              <a:t> con </a:t>
            </a:r>
            <a:r>
              <a:rPr lang="en-US" dirty="0" err="1"/>
              <a:t>datos</a:t>
            </a:r>
            <a:r>
              <a:rPr lang="en-US" dirty="0"/>
              <a:t> </a:t>
            </a:r>
            <a:r>
              <a:rPr lang="en-US" dirty="0" err="1"/>
              <a:t>clínicos</a:t>
            </a:r>
            <a:r>
              <a:rPr lang="en-US" dirty="0"/>
              <a:t> </a:t>
            </a:r>
            <a:r>
              <a:rPr lang="en-US" dirty="0" err="1"/>
              <a:t>tabulares</a:t>
            </a:r>
            <a:r>
              <a:rPr lang="en-US" dirty="0"/>
              <a:t> del dataset </a:t>
            </a:r>
            <a:r>
              <a:rPr lang="en-US" dirty="0" err="1"/>
              <a:t>público</a:t>
            </a:r>
            <a:r>
              <a:rPr lang="en-US" dirty="0"/>
              <a:t> UCI de diabetes.</a:t>
            </a:r>
          </a:p>
          <a:p>
            <a:endParaRPr lang="en-US" dirty="0"/>
          </a:p>
          <a:p>
            <a:r>
              <a:rPr lang="en-US" dirty="0"/>
              <a:t>Segundo: </a:t>
            </a:r>
            <a:r>
              <a:rPr lang="en-US" b="1" dirty="0" err="1"/>
              <a:t>explicabilidad</a:t>
            </a:r>
            <a:r>
              <a:rPr lang="en-US" dirty="0"/>
              <a:t> —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clínico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qué</a:t>
            </a:r>
            <a:r>
              <a:rPr lang="en-US" dirty="0"/>
              <a:t> variables </a:t>
            </a:r>
            <a:r>
              <a:rPr lang="en-US" dirty="0" err="1"/>
              <a:t>empujan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riesgo</a:t>
            </a:r>
            <a:r>
              <a:rPr lang="en-US" dirty="0"/>
              <a:t> </a:t>
            </a:r>
            <a:r>
              <a:rPr lang="en-US" dirty="0" err="1"/>
              <a:t>hacia</a:t>
            </a:r>
            <a:r>
              <a:rPr lang="en-US" dirty="0"/>
              <a:t> </a:t>
            </a:r>
            <a:r>
              <a:rPr lang="en-US" dirty="0" err="1"/>
              <a:t>arriba</a:t>
            </a:r>
            <a:r>
              <a:rPr lang="en-US" dirty="0"/>
              <a:t> o </a:t>
            </a:r>
            <a:r>
              <a:rPr lang="en-US" dirty="0" err="1"/>
              <a:t>hacia</a:t>
            </a:r>
            <a:r>
              <a:rPr lang="en-US" dirty="0"/>
              <a:t> </a:t>
            </a:r>
            <a:r>
              <a:rPr lang="en-US" dirty="0" err="1"/>
              <a:t>abajo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Tercero: </a:t>
            </a:r>
            <a:r>
              <a:rPr lang="en-US" b="1" dirty="0" err="1"/>
              <a:t>simulación</a:t>
            </a:r>
            <a:r>
              <a:rPr lang="en-US" b="1" dirty="0"/>
              <a:t> what-if</a:t>
            </a:r>
            <a:r>
              <a:rPr lang="en-US" dirty="0"/>
              <a:t> — </a:t>
            </a:r>
            <a:r>
              <a:rPr lang="en-US" dirty="0" err="1"/>
              <a:t>podemos</a:t>
            </a:r>
            <a:r>
              <a:rPr lang="en-US" dirty="0"/>
              <a:t> </a:t>
            </a:r>
            <a:r>
              <a:rPr lang="en-US" dirty="0" err="1"/>
              <a:t>preguntar</a:t>
            </a:r>
            <a:r>
              <a:rPr lang="en-US" dirty="0"/>
              <a:t>: “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mejoramos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control </a:t>
            </a:r>
            <a:r>
              <a:rPr lang="en-US" dirty="0" err="1"/>
              <a:t>glucémico</a:t>
            </a:r>
            <a:r>
              <a:rPr lang="en-US" dirty="0"/>
              <a:t> o </a:t>
            </a:r>
            <a:r>
              <a:rPr lang="en-US" dirty="0" err="1"/>
              <a:t>reducimos</a:t>
            </a:r>
            <a:r>
              <a:rPr lang="en-US" dirty="0"/>
              <a:t> las </a:t>
            </a:r>
            <a:r>
              <a:rPr lang="en-US" dirty="0" err="1"/>
              <a:t>admisiones</a:t>
            </a:r>
            <a:r>
              <a:rPr lang="en-US" dirty="0"/>
              <a:t> previas, ¿</a:t>
            </a:r>
            <a:r>
              <a:rPr lang="en-US" dirty="0" err="1"/>
              <a:t>cómo</a:t>
            </a:r>
            <a:r>
              <a:rPr lang="en-US" dirty="0"/>
              <a:t> cambia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riesgo</a:t>
            </a:r>
            <a:r>
              <a:rPr lang="en-US" dirty="0"/>
              <a:t>?”</a:t>
            </a:r>
          </a:p>
          <a:p>
            <a:endParaRPr lang="en-US" dirty="0"/>
          </a:p>
          <a:p>
            <a:r>
              <a:rPr lang="en-US" dirty="0"/>
              <a:t>Y </a:t>
            </a:r>
            <a:r>
              <a:rPr lang="en-US" dirty="0" err="1"/>
              <a:t>cuarto</a:t>
            </a:r>
            <a:r>
              <a:rPr lang="en-US" dirty="0"/>
              <a:t>: </a:t>
            </a:r>
            <a:r>
              <a:rPr lang="en-US" b="1" dirty="0" err="1"/>
              <a:t>persistencia</a:t>
            </a:r>
            <a:r>
              <a:rPr lang="en-US" b="1" dirty="0"/>
              <a:t> e </a:t>
            </a:r>
            <a:r>
              <a:rPr lang="en-US" b="1" dirty="0" err="1"/>
              <a:t>historial</a:t>
            </a:r>
            <a:r>
              <a:rPr lang="en-US" dirty="0"/>
              <a:t> — </a:t>
            </a:r>
            <a:r>
              <a:rPr lang="en-US" dirty="0" err="1"/>
              <a:t>cada</a:t>
            </a:r>
            <a:r>
              <a:rPr lang="en-US" dirty="0"/>
              <a:t> </a:t>
            </a:r>
            <a:r>
              <a:rPr lang="en-US" dirty="0" err="1"/>
              <a:t>evaluación</a:t>
            </a:r>
            <a:r>
              <a:rPr lang="en-US" dirty="0"/>
              <a:t> </a:t>
            </a:r>
            <a:r>
              <a:rPr lang="en-US" dirty="0" err="1"/>
              <a:t>queda</a:t>
            </a:r>
            <a:r>
              <a:rPr lang="en-US" dirty="0"/>
              <a:t> </a:t>
            </a:r>
            <a:r>
              <a:rPr lang="en-US" dirty="0" err="1"/>
              <a:t>registrada</a:t>
            </a:r>
            <a:r>
              <a:rPr lang="en-US" dirty="0"/>
              <a:t> para consulta y </a:t>
            </a:r>
            <a:r>
              <a:rPr lang="en-US" dirty="0" err="1"/>
              <a:t>analítica</a:t>
            </a:r>
            <a:r>
              <a:rPr lang="en-US" dirty="0"/>
              <a:t> posterior.»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C5CD0-964A-412E-BAD3-D4ECB486B5E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6780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«Los </a:t>
            </a:r>
            <a:r>
              <a:rPr lang="en-US" dirty="0" err="1"/>
              <a:t>objetivos</a:t>
            </a:r>
            <a:r>
              <a:rPr lang="en-US" dirty="0"/>
              <a:t> del </a:t>
            </a:r>
            <a:r>
              <a:rPr lang="en-US" dirty="0" err="1"/>
              <a:t>proyecto</a:t>
            </a:r>
            <a:r>
              <a:rPr lang="en-US" dirty="0"/>
              <a:t> </a:t>
            </a:r>
            <a:r>
              <a:rPr lang="en-US" dirty="0" err="1"/>
              <a:t>han</a:t>
            </a:r>
            <a:r>
              <a:rPr lang="en-US" dirty="0"/>
              <a:t> </a:t>
            </a:r>
            <a:r>
              <a:rPr lang="en-US" dirty="0" err="1"/>
              <a:t>sido</a:t>
            </a:r>
            <a:r>
              <a:rPr lang="en-US" dirty="0"/>
              <a:t>,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resumen</a:t>
            </a:r>
            <a:r>
              <a:rPr lang="en-US" dirty="0"/>
              <a:t>: </a:t>
            </a:r>
            <a:r>
              <a:rPr lang="en-US" dirty="0" err="1"/>
              <a:t>construir</a:t>
            </a:r>
            <a:r>
              <a:rPr lang="en-US" dirty="0"/>
              <a:t> un pipeline de machine learning </a:t>
            </a:r>
            <a:r>
              <a:rPr lang="en-US" b="1" dirty="0"/>
              <a:t>reproducible</a:t>
            </a:r>
            <a:r>
              <a:rPr lang="en-US" dirty="0"/>
              <a:t>; </a:t>
            </a:r>
            <a:r>
              <a:rPr lang="en-US" dirty="0" err="1"/>
              <a:t>integrarlo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API </a:t>
            </a:r>
            <a:r>
              <a:rPr lang="en-US" dirty="0" err="1"/>
              <a:t>segura</a:t>
            </a:r>
            <a:r>
              <a:rPr lang="en-US" dirty="0"/>
              <a:t> con </a:t>
            </a:r>
            <a:r>
              <a:rPr lang="en-US" dirty="0" err="1"/>
              <a:t>autenticación</a:t>
            </a:r>
            <a:r>
              <a:rPr lang="en-US" dirty="0"/>
              <a:t> y roles; </a:t>
            </a:r>
            <a:r>
              <a:rPr lang="en-US" dirty="0" err="1"/>
              <a:t>desarrollar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interfaz</a:t>
            </a:r>
            <a:r>
              <a:rPr lang="en-US" dirty="0"/>
              <a:t> </a:t>
            </a:r>
            <a:r>
              <a:rPr lang="en-US" dirty="0" err="1"/>
              <a:t>clínica</a:t>
            </a:r>
            <a:r>
              <a:rPr lang="en-US" dirty="0"/>
              <a:t> </a:t>
            </a:r>
            <a:r>
              <a:rPr lang="en-US" dirty="0" err="1"/>
              <a:t>profesional</a:t>
            </a:r>
            <a:r>
              <a:rPr lang="en-US" dirty="0"/>
              <a:t>; </a:t>
            </a:r>
            <a:r>
              <a:rPr lang="en-US" dirty="0" err="1"/>
              <a:t>persistir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resultados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PostgreSQL; y </a:t>
            </a:r>
            <a:r>
              <a:rPr lang="en-US" dirty="0" err="1"/>
              <a:t>desplegar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sistema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 </a:t>
            </a:r>
            <a:r>
              <a:rPr lang="en-US" b="1" dirty="0" err="1"/>
              <a:t>producción</a:t>
            </a:r>
            <a:r>
              <a:rPr lang="en-US" b="1" dirty="0"/>
              <a:t> real</a:t>
            </a:r>
            <a:r>
              <a:rPr lang="en-US" dirty="0"/>
              <a:t>, no solo </a:t>
            </a:r>
            <a:r>
              <a:rPr lang="en-US" dirty="0" err="1"/>
              <a:t>en</a:t>
            </a:r>
            <a:r>
              <a:rPr lang="en-US" dirty="0"/>
              <a:t> local.</a:t>
            </a:r>
          </a:p>
          <a:p>
            <a:endParaRPr lang="en-US" dirty="0"/>
          </a:p>
          <a:p>
            <a:r>
              <a:rPr lang="en-US" dirty="0"/>
              <a:t>Todo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código</a:t>
            </a:r>
            <a:r>
              <a:rPr lang="en-US" dirty="0"/>
              <a:t> </a:t>
            </a:r>
            <a:r>
              <a:rPr lang="en-US" dirty="0" err="1"/>
              <a:t>vive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un </a:t>
            </a:r>
            <a:r>
              <a:rPr lang="en-US" dirty="0" err="1"/>
              <a:t>único</a:t>
            </a:r>
            <a:r>
              <a:rPr lang="en-US" dirty="0"/>
              <a:t> </a:t>
            </a:r>
            <a:r>
              <a:rPr lang="en-US" dirty="0" err="1"/>
              <a:t>repositorio</a:t>
            </a:r>
            <a:r>
              <a:rPr lang="en-US" dirty="0"/>
              <a:t> modular: frontend, backend y machine learning, sin </a:t>
            </a:r>
            <a:r>
              <a:rPr lang="en-US" dirty="0" err="1"/>
              <a:t>microservicios</a:t>
            </a:r>
            <a:r>
              <a:rPr lang="en-US" dirty="0"/>
              <a:t>, </a:t>
            </a:r>
            <a:r>
              <a:rPr lang="en-US" dirty="0" err="1"/>
              <a:t>priorizando</a:t>
            </a:r>
            <a:r>
              <a:rPr lang="en-US" dirty="0"/>
              <a:t> la </a:t>
            </a:r>
            <a:r>
              <a:rPr lang="en-US" dirty="0" err="1"/>
              <a:t>claridad</a:t>
            </a:r>
            <a:r>
              <a:rPr lang="en-US" dirty="0"/>
              <a:t> y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mantenimiento</a:t>
            </a:r>
            <a:r>
              <a:rPr lang="en-US" dirty="0"/>
              <a:t>.»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C5CD0-964A-412E-BAD3-D4ECB486B5E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4473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«En </a:t>
            </a:r>
            <a:r>
              <a:rPr lang="en-US" dirty="0" err="1"/>
              <a:t>esta</a:t>
            </a:r>
            <a:r>
              <a:rPr lang="en-US" dirty="0"/>
              <a:t> </a:t>
            </a:r>
            <a:r>
              <a:rPr lang="en-US" dirty="0" err="1"/>
              <a:t>diapositiva</a:t>
            </a:r>
            <a:r>
              <a:rPr lang="en-US" dirty="0"/>
              <a:t> Podemos </a:t>
            </a:r>
            <a:r>
              <a:rPr lang="en-US" dirty="0" err="1"/>
              <a:t>ver</a:t>
            </a:r>
            <a:r>
              <a:rPr lang="en-US" dirty="0"/>
              <a:t> la </a:t>
            </a:r>
            <a:r>
              <a:rPr lang="en-US" dirty="0" err="1"/>
              <a:t>arquitectura</a:t>
            </a:r>
            <a:r>
              <a:rPr lang="en-US" dirty="0"/>
              <a:t> del </a:t>
            </a:r>
            <a:r>
              <a:rPr lang="en-US" dirty="0" err="1"/>
              <a:t>proyecto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/>
              <a:t>A la </a:t>
            </a:r>
            <a:r>
              <a:rPr lang="en-US" dirty="0" err="1"/>
              <a:t>izquierda</a:t>
            </a:r>
            <a:r>
              <a:rPr lang="en-US" dirty="0"/>
              <a:t>,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navegador</a:t>
            </a:r>
            <a:r>
              <a:rPr lang="en-US" dirty="0"/>
              <a:t> con la </a:t>
            </a:r>
            <a:r>
              <a:rPr lang="en-US" dirty="0" err="1"/>
              <a:t>aplicación</a:t>
            </a:r>
            <a:r>
              <a:rPr lang="en-US" dirty="0"/>
              <a:t> React </a:t>
            </a:r>
            <a:r>
              <a:rPr lang="en-US" dirty="0" err="1"/>
              <a:t>desplegada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 </a:t>
            </a:r>
            <a:r>
              <a:rPr lang="en-US" b="1" dirty="0" err="1"/>
              <a:t>Vercel</a:t>
            </a:r>
            <a:r>
              <a:rPr lang="en-US" dirty="0"/>
              <a:t>. Las </a:t>
            </a:r>
            <a:r>
              <a:rPr lang="en-US" dirty="0" err="1"/>
              <a:t>peticiones</a:t>
            </a:r>
            <a:r>
              <a:rPr lang="en-US" dirty="0"/>
              <a:t> van </a:t>
            </a:r>
            <a:r>
              <a:rPr lang="en-US" dirty="0" err="1"/>
              <a:t>por</a:t>
            </a:r>
            <a:r>
              <a:rPr lang="en-US" dirty="0"/>
              <a:t> HTTPS al backend </a:t>
            </a:r>
            <a:r>
              <a:rPr lang="en-US" b="1" dirty="0" err="1"/>
              <a:t>FastAPI</a:t>
            </a:r>
            <a:r>
              <a:rPr lang="en-US" dirty="0"/>
              <a:t>,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corre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 </a:t>
            </a:r>
            <a:r>
              <a:rPr lang="en-US" b="1" dirty="0"/>
              <a:t>Render</a:t>
            </a:r>
            <a:r>
              <a:rPr lang="en-US" dirty="0"/>
              <a:t> </a:t>
            </a:r>
            <a:r>
              <a:rPr lang="en-US" dirty="0" err="1"/>
              <a:t>dentro</a:t>
            </a:r>
            <a:r>
              <a:rPr lang="en-US" dirty="0"/>
              <a:t> de un </a:t>
            </a:r>
            <a:r>
              <a:rPr lang="en-US" dirty="0" err="1"/>
              <a:t>contenedor</a:t>
            </a:r>
            <a:r>
              <a:rPr lang="en-US" dirty="0"/>
              <a:t> Docker.</a:t>
            </a:r>
          </a:p>
          <a:p>
            <a:endParaRPr lang="en-US" dirty="0"/>
          </a:p>
          <a:p>
            <a:r>
              <a:rPr lang="en-US" dirty="0"/>
              <a:t>Al </a:t>
            </a:r>
            <a:r>
              <a:rPr lang="en-US" dirty="0" err="1"/>
              <a:t>arrancar</a:t>
            </a:r>
            <a:r>
              <a:rPr lang="en-US" dirty="0"/>
              <a:t>, El backend carga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modelo</a:t>
            </a:r>
            <a:r>
              <a:rPr lang="en-US" dirty="0"/>
              <a:t> </a:t>
            </a:r>
            <a:r>
              <a:rPr lang="en-US" dirty="0" err="1"/>
              <a:t>serializado</a:t>
            </a:r>
            <a:r>
              <a:rPr lang="en-US" dirty="0"/>
              <a:t>, </a:t>
            </a:r>
            <a:r>
              <a:rPr lang="en-US" dirty="0" err="1"/>
              <a:t>el</a:t>
            </a:r>
            <a:r>
              <a:rPr lang="en-US" dirty="0"/>
              <a:t> pre-</a:t>
            </a:r>
            <a:r>
              <a:rPr lang="en-US" dirty="0" err="1"/>
              <a:t>procesador</a:t>
            </a:r>
            <a:r>
              <a:rPr lang="en-US" dirty="0"/>
              <a:t> y la </a:t>
            </a:r>
            <a:r>
              <a:rPr lang="en-US" dirty="0" err="1"/>
              <a:t>muestra</a:t>
            </a:r>
            <a:r>
              <a:rPr lang="en-US" dirty="0"/>
              <a:t> de </a:t>
            </a:r>
            <a:r>
              <a:rPr lang="en-US" dirty="0" err="1"/>
              <a:t>fondo</a:t>
            </a:r>
            <a:r>
              <a:rPr lang="en-US" dirty="0"/>
              <a:t> para SHAP. </a:t>
            </a:r>
          </a:p>
          <a:p>
            <a:endParaRPr lang="en-US" dirty="0"/>
          </a:p>
          <a:p>
            <a:r>
              <a:rPr lang="en-US" dirty="0" err="1"/>
              <a:t>Además</a:t>
            </a:r>
            <a:r>
              <a:rPr lang="en-US" dirty="0"/>
              <a:t> se </a:t>
            </a:r>
            <a:r>
              <a:rPr lang="en-US" dirty="0" err="1"/>
              <a:t>conecta</a:t>
            </a:r>
            <a:r>
              <a:rPr lang="en-US" dirty="0"/>
              <a:t> a </a:t>
            </a:r>
            <a:r>
              <a:rPr lang="en-US" b="1" dirty="0"/>
              <a:t>PostgreSQL</a:t>
            </a:r>
            <a:r>
              <a:rPr lang="en-US" dirty="0"/>
              <a:t> </a:t>
            </a:r>
            <a:r>
              <a:rPr lang="en-US" dirty="0" err="1"/>
              <a:t>en</a:t>
            </a:r>
            <a:r>
              <a:rPr lang="en-US" dirty="0"/>
              <a:t> </a:t>
            </a:r>
            <a:r>
              <a:rPr lang="en-US" b="1" dirty="0" err="1"/>
              <a:t>Supabase</a:t>
            </a:r>
            <a:r>
              <a:rPr lang="en-US" dirty="0"/>
              <a:t> para </a:t>
            </a:r>
            <a:r>
              <a:rPr lang="en-US" dirty="0" err="1"/>
              <a:t>guardar</a:t>
            </a:r>
            <a:r>
              <a:rPr lang="en-US" dirty="0"/>
              <a:t> </a:t>
            </a:r>
            <a:r>
              <a:rPr lang="en-US" dirty="0" err="1"/>
              <a:t>predicciones</a:t>
            </a:r>
            <a:r>
              <a:rPr lang="en-US" dirty="0"/>
              <a:t>, </a:t>
            </a:r>
            <a:r>
              <a:rPr lang="en-US" dirty="0" err="1"/>
              <a:t>explicaciones</a:t>
            </a:r>
            <a:r>
              <a:rPr lang="en-US" dirty="0"/>
              <a:t> y </a:t>
            </a:r>
            <a:r>
              <a:rPr lang="en-US" dirty="0" err="1"/>
              <a:t>simulaciones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El </a:t>
            </a:r>
            <a:r>
              <a:rPr lang="en-US" dirty="0" err="1"/>
              <a:t>entrenamiento</a:t>
            </a:r>
            <a:r>
              <a:rPr lang="en-US" dirty="0"/>
              <a:t> del </a:t>
            </a:r>
            <a:r>
              <a:rPr lang="en-US" dirty="0" err="1"/>
              <a:t>modelo</a:t>
            </a:r>
            <a:r>
              <a:rPr lang="en-US" dirty="0"/>
              <a:t> se </a:t>
            </a:r>
            <a:r>
              <a:rPr lang="en-US" dirty="0" err="1"/>
              <a:t>hace</a:t>
            </a:r>
            <a:r>
              <a:rPr lang="en-US" dirty="0"/>
              <a:t> </a:t>
            </a:r>
            <a:r>
              <a:rPr lang="en-US" b="1" dirty="0"/>
              <a:t>offline.</a:t>
            </a:r>
          </a:p>
          <a:p>
            <a:r>
              <a:rPr lang="en-US" dirty="0"/>
              <a:t>En </a:t>
            </a:r>
            <a:r>
              <a:rPr lang="en-US" dirty="0" err="1"/>
              <a:t>inferencia</a:t>
            </a:r>
            <a:r>
              <a:rPr lang="en-US" dirty="0"/>
              <a:t> </a:t>
            </a:r>
            <a:r>
              <a:rPr lang="en-US" b="1" dirty="0" err="1"/>
              <a:t>nunca</a:t>
            </a:r>
            <a:r>
              <a:rPr lang="en-US" dirty="0"/>
              <a:t> </a:t>
            </a:r>
            <a:r>
              <a:rPr lang="en-US" dirty="0" err="1"/>
              <a:t>reentrenamos</a:t>
            </a:r>
            <a:r>
              <a:rPr lang="en-US" dirty="0"/>
              <a:t>: solo </a:t>
            </a:r>
            <a:r>
              <a:rPr lang="en-US" dirty="0" err="1"/>
              <a:t>predecimos</a:t>
            </a:r>
            <a:r>
              <a:rPr lang="en-US" dirty="0"/>
              <a:t> y </a:t>
            </a:r>
            <a:r>
              <a:rPr lang="en-US" dirty="0" err="1"/>
              <a:t>explicamos</a:t>
            </a:r>
            <a:r>
              <a:rPr lang="en-US" dirty="0"/>
              <a:t>. Esto es </a:t>
            </a:r>
            <a:r>
              <a:rPr lang="en-US" dirty="0" err="1"/>
              <a:t>crítico</a:t>
            </a:r>
            <a:r>
              <a:rPr lang="en-US" dirty="0"/>
              <a:t> para un </a:t>
            </a:r>
            <a:r>
              <a:rPr lang="en-US" dirty="0" err="1"/>
              <a:t>entorno</a:t>
            </a:r>
            <a:r>
              <a:rPr lang="en-US" dirty="0"/>
              <a:t> </a:t>
            </a:r>
            <a:r>
              <a:rPr lang="en-US" dirty="0" err="1"/>
              <a:t>clínico</a:t>
            </a:r>
            <a:r>
              <a:rPr lang="en-US" dirty="0"/>
              <a:t> </a:t>
            </a:r>
            <a:r>
              <a:rPr lang="en-US" dirty="0" err="1"/>
              <a:t>regulado</a:t>
            </a:r>
            <a:r>
              <a:rPr lang="en-US" dirty="0"/>
              <a:t>.»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C5CD0-964A-412E-BAD3-D4ECB486B5E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4384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«El pipeline de machine learning </a:t>
            </a:r>
            <a:r>
              <a:rPr lang="en-US" dirty="0" err="1"/>
              <a:t>sigue</a:t>
            </a:r>
            <a:r>
              <a:rPr lang="en-US" dirty="0"/>
              <a:t> un </a:t>
            </a:r>
            <a:r>
              <a:rPr lang="en-US" dirty="0" err="1"/>
              <a:t>flujo</a:t>
            </a:r>
            <a:r>
              <a:rPr lang="en-US" dirty="0"/>
              <a:t> claro: </a:t>
            </a:r>
            <a:r>
              <a:rPr lang="en-US" dirty="0" err="1"/>
              <a:t>datos</a:t>
            </a:r>
            <a:r>
              <a:rPr lang="en-US" dirty="0"/>
              <a:t>, </a:t>
            </a:r>
            <a:r>
              <a:rPr lang="en-US" dirty="0" err="1"/>
              <a:t>preprocesamiento</a:t>
            </a:r>
            <a:r>
              <a:rPr lang="en-US" dirty="0"/>
              <a:t>, </a:t>
            </a:r>
            <a:r>
              <a:rPr lang="en-US" dirty="0" err="1"/>
              <a:t>entrenamiento</a:t>
            </a:r>
            <a:r>
              <a:rPr lang="en-US" dirty="0"/>
              <a:t> de </a:t>
            </a:r>
            <a:r>
              <a:rPr lang="en-US" dirty="0" err="1"/>
              <a:t>varios</a:t>
            </a:r>
            <a:r>
              <a:rPr lang="en-US" dirty="0"/>
              <a:t> </a:t>
            </a:r>
            <a:r>
              <a:rPr lang="en-US" dirty="0" err="1"/>
              <a:t>candidatos</a:t>
            </a:r>
            <a:r>
              <a:rPr lang="en-US" dirty="0"/>
              <a:t>, </a:t>
            </a:r>
            <a:r>
              <a:rPr lang="en-US" dirty="0" err="1"/>
              <a:t>evaluación</a:t>
            </a:r>
            <a:r>
              <a:rPr lang="en-US" dirty="0"/>
              <a:t>, </a:t>
            </a:r>
            <a:r>
              <a:rPr lang="en-US" dirty="0" err="1"/>
              <a:t>selección</a:t>
            </a:r>
            <a:r>
              <a:rPr lang="en-US" dirty="0"/>
              <a:t> del </a:t>
            </a:r>
            <a:r>
              <a:rPr lang="en-US" dirty="0" err="1"/>
              <a:t>modelo</a:t>
            </a:r>
            <a:r>
              <a:rPr lang="en-US" dirty="0"/>
              <a:t> final y </a:t>
            </a:r>
            <a:r>
              <a:rPr lang="en-US" dirty="0" err="1"/>
              <a:t>serialización</a:t>
            </a:r>
            <a:r>
              <a:rPr lang="en-US" dirty="0"/>
              <a:t> de </a:t>
            </a:r>
            <a:r>
              <a:rPr lang="en-US" dirty="0" err="1"/>
              <a:t>artefactos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Usamos</a:t>
            </a:r>
            <a:r>
              <a:rPr lang="en-US" dirty="0"/>
              <a:t> </a:t>
            </a:r>
            <a:r>
              <a:rPr lang="en-US" dirty="0" err="1"/>
              <a:t>diecinueve</a:t>
            </a:r>
            <a:r>
              <a:rPr lang="en-US" dirty="0"/>
              <a:t> variables </a:t>
            </a:r>
            <a:r>
              <a:rPr lang="en-US" dirty="0" err="1"/>
              <a:t>clínicas</a:t>
            </a:r>
            <a:r>
              <a:rPr lang="en-US" dirty="0"/>
              <a:t> </a:t>
            </a:r>
            <a:r>
              <a:rPr lang="en-US" dirty="0" err="1"/>
              <a:t>derivadas</a:t>
            </a:r>
            <a:r>
              <a:rPr lang="en-US" dirty="0"/>
              <a:t> del dataset, con </a:t>
            </a:r>
            <a:r>
              <a:rPr lang="en-US" dirty="0" err="1"/>
              <a:t>imputación</a:t>
            </a:r>
            <a:r>
              <a:rPr lang="en-US" dirty="0"/>
              <a:t>, </a:t>
            </a:r>
            <a:r>
              <a:rPr lang="en-US" dirty="0" err="1"/>
              <a:t>escalado</a:t>
            </a:r>
            <a:r>
              <a:rPr lang="en-US" dirty="0"/>
              <a:t> y </a:t>
            </a:r>
            <a:r>
              <a:rPr lang="en-US" dirty="0" err="1"/>
              <a:t>codificación</a:t>
            </a:r>
            <a:r>
              <a:rPr lang="en-US" dirty="0"/>
              <a:t> one-hot. </a:t>
            </a:r>
            <a:r>
              <a:rPr lang="en-US" dirty="0" err="1"/>
              <a:t>Evaluamos</a:t>
            </a:r>
            <a:r>
              <a:rPr lang="en-US" dirty="0"/>
              <a:t> </a:t>
            </a:r>
            <a:r>
              <a:rPr lang="en-US" dirty="0" err="1"/>
              <a:t>modelos</a:t>
            </a:r>
            <a:r>
              <a:rPr lang="en-US" dirty="0"/>
              <a:t> </a:t>
            </a:r>
            <a:r>
              <a:rPr lang="en-US" dirty="0" err="1"/>
              <a:t>regresión</a:t>
            </a:r>
            <a:r>
              <a:rPr lang="en-US" dirty="0"/>
              <a:t> </a:t>
            </a:r>
            <a:r>
              <a:rPr lang="en-US" dirty="0" err="1"/>
              <a:t>logística</a:t>
            </a:r>
            <a:r>
              <a:rPr lang="en-US" dirty="0"/>
              <a:t>, random forest y </a:t>
            </a:r>
            <a:r>
              <a:rPr lang="en-US" dirty="0" err="1"/>
              <a:t>XGBoost</a:t>
            </a:r>
            <a:r>
              <a:rPr lang="en-US" dirty="0"/>
              <a:t>.</a:t>
            </a:r>
          </a:p>
          <a:p>
            <a:r>
              <a:rPr lang="en-US" dirty="0"/>
              <a:t>El </a:t>
            </a:r>
            <a:r>
              <a:rPr lang="en-US" dirty="0" err="1"/>
              <a:t>modelo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hemos</a:t>
            </a:r>
            <a:r>
              <a:rPr lang="en-US" dirty="0"/>
              <a:t> </a:t>
            </a:r>
            <a:r>
              <a:rPr lang="en-US" dirty="0" err="1"/>
              <a:t>elegido</a:t>
            </a:r>
            <a:r>
              <a:rPr lang="en-US" dirty="0"/>
              <a:t> </a:t>
            </a:r>
            <a:r>
              <a:rPr lang="en-US" dirty="0" err="1"/>
              <a:t>poner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producción</a:t>
            </a:r>
            <a:r>
              <a:rPr lang="en-US" dirty="0"/>
              <a:t> es </a:t>
            </a:r>
            <a:r>
              <a:rPr lang="en-US" dirty="0" err="1"/>
              <a:t>el</a:t>
            </a:r>
            <a:r>
              <a:rPr lang="en-US" dirty="0"/>
              <a:t> de </a:t>
            </a:r>
            <a:r>
              <a:rPr lang="en-US" b="1" dirty="0" err="1"/>
              <a:t>regresión</a:t>
            </a:r>
            <a:r>
              <a:rPr lang="en-US" b="1" dirty="0"/>
              <a:t> </a:t>
            </a:r>
            <a:r>
              <a:rPr lang="en-US" b="1" dirty="0" err="1"/>
              <a:t>logística</a:t>
            </a:r>
            <a:r>
              <a:rPr lang="en-US" b="1" dirty="0"/>
              <a:t> </a:t>
            </a:r>
            <a:r>
              <a:rPr lang="en-US" b="1" dirty="0" err="1"/>
              <a:t>versión</a:t>
            </a:r>
            <a:r>
              <a:rPr lang="en-US" dirty="0"/>
              <a:t> con </a:t>
            </a:r>
            <a:r>
              <a:rPr lang="en-US" dirty="0" err="1"/>
              <a:t>explicador</a:t>
            </a:r>
            <a:r>
              <a:rPr lang="en-US" dirty="0"/>
              <a:t> SHAP lineal,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razón</a:t>
            </a:r>
            <a:r>
              <a:rPr lang="en-US" dirty="0"/>
              <a:t> </a:t>
            </a:r>
            <a:r>
              <a:rPr lang="en-US" dirty="0" err="1"/>
              <a:t>clínica</a:t>
            </a:r>
            <a:r>
              <a:rPr lang="en-US" dirty="0"/>
              <a:t> </a:t>
            </a:r>
            <a:r>
              <a:rPr lang="en-US" dirty="0" err="1"/>
              <a:t>deliberada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veremos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la </a:t>
            </a:r>
            <a:r>
              <a:rPr lang="en-US" dirty="0" err="1"/>
              <a:t>siguiente</a:t>
            </a:r>
            <a:r>
              <a:rPr lang="en-US" dirty="0"/>
              <a:t> </a:t>
            </a:r>
            <a:r>
              <a:rPr lang="en-US" dirty="0" err="1"/>
              <a:t>diapositiva</a:t>
            </a:r>
            <a:r>
              <a:rPr lang="en-US" dirty="0"/>
              <a:t>.»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C5CD0-964A-412E-BAD3-D4ECB486B5E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7194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«En </a:t>
            </a:r>
            <a:r>
              <a:rPr lang="en-US" dirty="0" err="1"/>
              <a:t>el</a:t>
            </a:r>
            <a:r>
              <a:rPr lang="en-US" dirty="0"/>
              <a:t> conjunto de test — </a:t>
            </a:r>
            <a:r>
              <a:rPr lang="en-US" dirty="0" err="1"/>
              <a:t>datos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modelo</a:t>
            </a:r>
            <a:r>
              <a:rPr lang="en-US" dirty="0"/>
              <a:t> no </a:t>
            </a:r>
            <a:r>
              <a:rPr lang="en-US" dirty="0" err="1"/>
              <a:t>vio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entrenamiento</a:t>
            </a:r>
            <a:r>
              <a:rPr lang="en-US" dirty="0"/>
              <a:t> — la </a:t>
            </a:r>
            <a:r>
              <a:rPr lang="en-US" dirty="0" err="1"/>
              <a:t>regresión</a:t>
            </a:r>
            <a:r>
              <a:rPr lang="en-US" dirty="0"/>
              <a:t> </a:t>
            </a:r>
            <a:r>
              <a:rPr lang="en-US" dirty="0" err="1"/>
              <a:t>logística</a:t>
            </a:r>
            <a:r>
              <a:rPr lang="en-US" dirty="0"/>
              <a:t> </a:t>
            </a:r>
            <a:r>
              <a:rPr lang="en-US" dirty="0" err="1"/>
              <a:t>obtiene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accuracy de </a:t>
            </a:r>
            <a:r>
              <a:rPr lang="en-US" dirty="0" err="1"/>
              <a:t>aproximadamente</a:t>
            </a:r>
            <a:r>
              <a:rPr lang="en-US" dirty="0"/>
              <a:t> </a:t>
            </a:r>
            <a:r>
              <a:rPr lang="en-US" b="1" dirty="0" err="1"/>
              <a:t>sesenta</a:t>
            </a:r>
            <a:r>
              <a:rPr lang="en-US" b="1" dirty="0"/>
              <a:t> y un </a:t>
            </a:r>
            <a:r>
              <a:rPr lang="en-US" b="1" dirty="0" err="1"/>
              <a:t>por</a:t>
            </a:r>
            <a:r>
              <a:rPr lang="en-US" b="1" dirty="0"/>
              <a:t> </a:t>
            </a:r>
            <a:r>
              <a:rPr lang="en-US" b="1" dirty="0" err="1"/>
              <a:t>ciento</a:t>
            </a:r>
            <a:r>
              <a:rPr lang="en-US" dirty="0"/>
              <a:t>. El KPI del </a:t>
            </a:r>
            <a:r>
              <a:rPr lang="en-US" dirty="0" err="1"/>
              <a:t>proyecto</a:t>
            </a:r>
            <a:r>
              <a:rPr lang="en-US" dirty="0"/>
              <a:t> </a:t>
            </a:r>
            <a:r>
              <a:rPr lang="en-US" dirty="0" err="1"/>
              <a:t>pedía</a:t>
            </a:r>
            <a:r>
              <a:rPr lang="en-US" dirty="0"/>
              <a:t> </a:t>
            </a:r>
            <a:r>
              <a:rPr lang="en-US" dirty="0" err="1"/>
              <a:t>setenta</a:t>
            </a:r>
            <a:r>
              <a:rPr lang="en-US" dirty="0"/>
              <a:t> y </a:t>
            </a:r>
            <a:r>
              <a:rPr lang="en-US" dirty="0" err="1"/>
              <a:t>cinco</a:t>
            </a:r>
            <a:r>
              <a:rPr lang="en-US" dirty="0"/>
              <a:t>, y </a:t>
            </a:r>
            <a:r>
              <a:rPr lang="en-US" b="1" dirty="0"/>
              <a:t>no lo </a:t>
            </a:r>
            <a:r>
              <a:rPr lang="en-US" b="1" dirty="0" err="1"/>
              <a:t>alcanzamos</a:t>
            </a:r>
            <a:r>
              <a:rPr lang="en-US" dirty="0"/>
              <a:t>. Lo </a:t>
            </a:r>
            <a:r>
              <a:rPr lang="en-US" dirty="0" err="1"/>
              <a:t>cual</a:t>
            </a:r>
            <a:r>
              <a:rPr lang="en-US" dirty="0"/>
              <a:t>, ha </a:t>
            </a:r>
            <a:r>
              <a:rPr lang="en-US" dirty="0" err="1"/>
              <a:t>quedado</a:t>
            </a:r>
            <a:r>
              <a:rPr lang="en-US" dirty="0"/>
              <a:t> </a:t>
            </a:r>
            <a:r>
              <a:rPr lang="en-US" dirty="0" err="1"/>
              <a:t>documentado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la </a:t>
            </a:r>
            <a:r>
              <a:rPr lang="en-US" dirty="0" err="1"/>
              <a:t>documentación</a:t>
            </a:r>
            <a:r>
              <a:rPr lang="en-US" dirty="0"/>
              <a:t> del Proyecto.</a:t>
            </a:r>
          </a:p>
          <a:p>
            <a:endParaRPr lang="en-US" dirty="0"/>
          </a:p>
          <a:p>
            <a:r>
              <a:rPr lang="en-US" dirty="0"/>
              <a:t>Sin embargo, </a:t>
            </a:r>
            <a:r>
              <a:rPr lang="en-US" dirty="0" err="1"/>
              <a:t>en</a:t>
            </a:r>
            <a:r>
              <a:rPr lang="en-US" dirty="0"/>
              <a:t> un </a:t>
            </a:r>
            <a:r>
              <a:rPr lang="en-US" dirty="0" err="1"/>
              <a:t>sistema</a:t>
            </a:r>
            <a:r>
              <a:rPr lang="en-US" dirty="0"/>
              <a:t> de </a:t>
            </a:r>
            <a:r>
              <a:rPr lang="en-US" dirty="0" err="1"/>
              <a:t>apoyo</a:t>
            </a:r>
            <a:r>
              <a:rPr lang="en-US" dirty="0"/>
              <a:t> a la </a:t>
            </a:r>
            <a:r>
              <a:rPr lang="en-US" dirty="0" err="1"/>
              <a:t>decisión</a:t>
            </a:r>
            <a:r>
              <a:rPr lang="en-US" dirty="0"/>
              <a:t> </a:t>
            </a:r>
            <a:r>
              <a:rPr lang="en-US" dirty="0" err="1"/>
              <a:t>priorizamos</a:t>
            </a:r>
            <a:r>
              <a:rPr lang="en-US" dirty="0"/>
              <a:t> </a:t>
            </a:r>
            <a:r>
              <a:rPr lang="en-US" b="1" dirty="0"/>
              <a:t>recall</a:t>
            </a:r>
            <a:r>
              <a:rPr lang="en-US" dirty="0"/>
              <a:t>: la </a:t>
            </a:r>
            <a:r>
              <a:rPr lang="en-US" dirty="0" err="1"/>
              <a:t>capacidad</a:t>
            </a:r>
            <a:r>
              <a:rPr lang="en-US" dirty="0"/>
              <a:t> de </a:t>
            </a:r>
            <a:r>
              <a:rPr lang="en-US" dirty="0" err="1"/>
              <a:t>detectar</a:t>
            </a:r>
            <a:r>
              <a:rPr lang="en-US" dirty="0"/>
              <a:t> </a:t>
            </a:r>
            <a:r>
              <a:rPr lang="en-US" dirty="0" err="1"/>
              <a:t>readmisiones</a:t>
            </a:r>
            <a:r>
              <a:rPr lang="en-US" dirty="0"/>
              <a:t> reales. </a:t>
            </a:r>
            <a:r>
              <a:rPr lang="en-US" dirty="0" err="1"/>
              <a:t>Aquí</a:t>
            </a:r>
            <a:r>
              <a:rPr lang="en-US" dirty="0"/>
              <a:t> la </a:t>
            </a:r>
            <a:r>
              <a:rPr lang="en-US" dirty="0" err="1"/>
              <a:t>logística</a:t>
            </a:r>
            <a:r>
              <a:rPr lang="en-US" dirty="0"/>
              <a:t> </a:t>
            </a:r>
            <a:r>
              <a:rPr lang="en-US" dirty="0" err="1"/>
              <a:t>alcanza</a:t>
            </a:r>
            <a:r>
              <a:rPr lang="en-US" dirty="0"/>
              <a:t> un recall de </a:t>
            </a:r>
            <a:r>
              <a:rPr lang="en-US" b="1" dirty="0" err="1"/>
              <a:t>cincuenta</a:t>
            </a:r>
            <a:r>
              <a:rPr lang="en-US" b="1" dirty="0"/>
              <a:t> y cuatro </a:t>
            </a:r>
            <a:r>
              <a:rPr lang="en-US" b="1" dirty="0" err="1"/>
              <a:t>por</a:t>
            </a:r>
            <a:r>
              <a:rPr lang="en-US" b="1" dirty="0"/>
              <a:t> </a:t>
            </a:r>
            <a:r>
              <a:rPr lang="en-US" b="1" dirty="0" err="1"/>
              <a:t>ciento</a:t>
            </a:r>
            <a:r>
              <a:rPr lang="en-US" dirty="0"/>
              <a:t>, </a:t>
            </a:r>
            <a:r>
              <a:rPr lang="en-US" dirty="0" err="1"/>
              <a:t>frente</a:t>
            </a:r>
            <a:r>
              <a:rPr lang="en-US" dirty="0"/>
              <a:t> a un </a:t>
            </a:r>
            <a:r>
              <a:rPr lang="en-US" dirty="0" err="1"/>
              <a:t>veinte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ciento</a:t>
            </a:r>
            <a:r>
              <a:rPr lang="en-US" dirty="0"/>
              <a:t> del random forest,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sí</a:t>
            </a:r>
            <a:r>
              <a:rPr lang="en-US" dirty="0"/>
              <a:t> </a:t>
            </a:r>
            <a:r>
              <a:rPr lang="en-US" dirty="0" err="1"/>
              <a:t>tenía</a:t>
            </a:r>
            <a:r>
              <a:rPr lang="en-US" dirty="0"/>
              <a:t> </a:t>
            </a:r>
            <a:r>
              <a:rPr lang="en-US" dirty="0" err="1"/>
              <a:t>más</a:t>
            </a:r>
            <a:r>
              <a:rPr lang="en-US" dirty="0"/>
              <a:t> accuracy </a:t>
            </a:r>
            <a:r>
              <a:rPr lang="en-US" dirty="0" err="1"/>
              <a:t>pero</a:t>
            </a:r>
            <a:r>
              <a:rPr lang="en-US" dirty="0"/>
              <a:t> </a:t>
            </a:r>
            <a:r>
              <a:rPr lang="en-US" dirty="0" err="1"/>
              <a:t>perdía</a:t>
            </a:r>
            <a:r>
              <a:rPr lang="en-US" dirty="0"/>
              <a:t> la </a:t>
            </a:r>
            <a:r>
              <a:rPr lang="en-US" dirty="0" err="1"/>
              <a:t>mayoría</a:t>
            </a:r>
            <a:r>
              <a:rPr lang="en-US" dirty="0"/>
              <a:t> de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casos</a:t>
            </a:r>
            <a:r>
              <a:rPr lang="en-US" dirty="0"/>
              <a:t> </a:t>
            </a:r>
            <a:r>
              <a:rPr lang="en-US" dirty="0" err="1"/>
              <a:t>positivos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En un </a:t>
            </a:r>
            <a:r>
              <a:rPr lang="en-US" dirty="0" err="1"/>
              <a:t>entorno</a:t>
            </a:r>
            <a:r>
              <a:rPr lang="en-US" dirty="0"/>
              <a:t> </a:t>
            </a:r>
            <a:r>
              <a:rPr lang="en-US" dirty="0" err="1"/>
              <a:t>clínico</a:t>
            </a:r>
            <a:r>
              <a:rPr lang="en-US" dirty="0"/>
              <a:t>, </a:t>
            </a:r>
            <a:r>
              <a:rPr lang="en-US" dirty="0" err="1"/>
              <a:t>perder</a:t>
            </a:r>
            <a:r>
              <a:rPr lang="en-US" dirty="0"/>
              <a:t> un </a:t>
            </a:r>
            <a:r>
              <a:rPr lang="en-US" dirty="0" err="1"/>
              <a:t>paciente</a:t>
            </a:r>
            <a:r>
              <a:rPr lang="en-US" dirty="0"/>
              <a:t> de alto </a:t>
            </a:r>
            <a:r>
              <a:rPr lang="en-US" dirty="0" err="1"/>
              <a:t>riesgo</a:t>
            </a:r>
            <a:r>
              <a:rPr lang="en-US" dirty="0"/>
              <a:t> </a:t>
            </a:r>
            <a:r>
              <a:rPr lang="en-US" dirty="0" err="1"/>
              <a:t>suele</a:t>
            </a:r>
            <a:r>
              <a:rPr lang="en-US" dirty="0"/>
              <a:t> ser </a:t>
            </a:r>
            <a:r>
              <a:rPr lang="en-US" dirty="0" err="1"/>
              <a:t>más</a:t>
            </a:r>
            <a:r>
              <a:rPr lang="en-US" dirty="0"/>
              <a:t> grave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generar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alerta</a:t>
            </a:r>
            <a:r>
              <a:rPr lang="en-US" dirty="0"/>
              <a:t> de </a:t>
            </a:r>
            <a:r>
              <a:rPr lang="en-US" dirty="0" err="1"/>
              <a:t>más</a:t>
            </a:r>
            <a:r>
              <a:rPr lang="en-US" dirty="0"/>
              <a:t>. Esta </a:t>
            </a:r>
            <a:r>
              <a:rPr lang="en-US" dirty="0" err="1"/>
              <a:t>fue</a:t>
            </a:r>
            <a:r>
              <a:rPr lang="en-US" dirty="0"/>
              <a:t> la </a:t>
            </a:r>
            <a:r>
              <a:rPr lang="en-US" dirty="0" err="1"/>
              <a:t>razón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la </a:t>
            </a:r>
            <a:r>
              <a:rPr lang="en-US" dirty="0" err="1"/>
              <a:t>cual</a:t>
            </a:r>
            <a:r>
              <a:rPr lang="en-US" dirty="0"/>
              <a:t> </a:t>
            </a:r>
            <a:r>
              <a:rPr lang="en-US" dirty="0" err="1"/>
              <a:t>elegímos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modelo</a:t>
            </a:r>
            <a:r>
              <a:rPr lang="en-US" dirty="0"/>
              <a:t> de regression. La </a:t>
            </a:r>
            <a:r>
              <a:rPr lang="en-US" dirty="0" err="1"/>
              <a:t>precisión</a:t>
            </a:r>
            <a:r>
              <a:rPr lang="en-US" dirty="0"/>
              <a:t> es baja — hay falsas </a:t>
            </a:r>
            <a:r>
              <a:rPr lang="en-US" dirty="0" err="1"/>
              <a:t>alarmas</a:t>
            </a:r>
            <a:r>
              <a:rPr lang="en-US" dirty="0"/>
              <a:t> — </a:t>
            </a:r>
            <a:r>
              <a:rPr lang="en-US" dirty="0" err="1"/>
              <a:t>pero</a:t>
            </a:r>
            <a:r>
              <a:rPr lang="en-US" dirty="0"/>
              <a:t> </a:t>
            </a:r>
            <a:r>
              <a:rPr lang="en-US" dirty="0" err="1"/>
              <a:t>esto</a:t>
            </a:r>
            <a:r>
              <a:rPr lang="en-US" dirty="0"/>
              <a:t> es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limitación</a:t>
            </a:r>
            <a:r>
              <a:rPr lang="en-US" dirty="0"/>
              <a:t> </a:t>
            </a:r>
            <a:r>
              <a:rPr lang="en-US" dirty="0" err="1"/>
              <a:t>explícita</a:t>
            </a:r>
            <a:r>
              <a:rPr lang="en-US" dirty="0"/>
              <a:t> del </a:t>
            </a:r>
            <a:r>
              <a:rPr lang="en-US" dirty="0" err="1"/>
              <a:t>proyecto</a:t>
            </a:r>
            <a:r>
              <a:rPr lang="en-US" dirty="0"/>
              <a:t>.»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C5CD0-964A-412E-BAD3-D4ECB486B5E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400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C5CD0-964A-412E-BAD3-D4ECB486B5E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3806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C5CD0-964A-412E-BAD3-D4ECB486B5E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1862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«Más </a:t>
            </a:r>
            <a:r>
              <a:rPr lang="en-US" dirty="0" err="1"/>
              <a:t>allá</a:t>
            </a:r>
            <a:r>
              <a:rPr lang="en-US" dirty="0"/>
              <a:t> del </a:t>
            </a:r>
            <a:r>
              <a:rPr lang="en-US" dirty="0" err="1"/>
              <a:t>modelo</a:t>
            </a:r>
            <a:r>
              <a:rPr lang="en-US" dirty="0"/>
              <a:t>,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proyecto</a:t>
            </a:r>
            <a:r>
              <a:rPr lang="en-US" dirty="0"/>
              <a:t> </a:t>
            </a:r>
            <a:r>
              <a:rPr lang="en-US" dirty="0" err="1"/>
              <a:t>demuestra</a:t>
            </a:r>
            <a:r>
              <a:rPr lang="en-US" dirty="0"/>
              <a:t> </a:t>
            </a:r>
            <a:r>
              <a:rPr lang="en-US" b="1" dirty="0" err="1"/>
              <a:t>ingeniería</a:t>
            </a:r>
            <a:r>
              <a:rPr lang="en-US" b="1" dirty="0"/>
              <a:t> de software</a:t>
            </a:r>
            <a:r>
              <a:rPr lang="en-US" dirty="0"/>
              <a:t>: </a:t>
            </a:r>
            <a:r>
              <a:rPr lang="en-US" dirty="0" err="1"/>
              <a:t>más</a:t>
            </a:r>
            <a:r>
              <a:rPr lang="en-US" dirty="0"/>
              <a:t> de </a:t>
            </a:r>
            <a:r>
              <a:rPr lang="en-US" dirty="0" err="1"/>
              <a:t>doscientos</a:t>
            </a:r>
            <a:r>
              <a:rPr lang="en-US" dirty="0"/>
              <a:t> quince tests </a:t>
            </a:r>
            <a:r>
              <a:rPr lang="en-US" dirty="0" err="1"/>
              <a:t>automatizados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backend, tests de machine learning, tests end-to-end con Playwright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recorren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flujo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acaban</a:t>
            </a:r>
            <a:r>
              <a:rPr lang="en-US" dirty="0"/>
              <a:t> de </a:t>
            </a:r>
            <a:r>
              <a:rPr lang="en-US" dirty="0" err="1"/>
              <a:t>ver</a:t>
            </a:r>
            <a:r>
              <a:rPr lang="en-US" dirty="0"/>
              <a:t>, </a:t>
            </a:r>
            <a:r>
              <a:rPr lang="en-US" dirty="0" err="1"/>
              <a:t>integración</a:t>
            </a:r>
            <a:r>
              <a:rPr lang="en-US" dirty="0"/>
              <a:t> continua </a:t>
            </a:r>
            <a:r>
              <a:rPr lang="en-US" dirty="0" err="1"/>
              <a:t>en</a:t>
            </a:r>
            <a:r>
              <a:rPr lang="en-US" dirty="0"/>
              <a:t> GitHub Actions, y </a:t>
            </a:r>
            <a:r>
              <a:rPr lang="en-US" dirty="0" err="1"/>
              <a:t>despliegue</a:t>
            </a:r>
            <a:r>
              <a:rPr lang="en-US" dirty="0"/>
              <a:t> </a:t>
            </a:r>
            <a:r>
              <a:rPr lang="en-US" dirty="0" err="1"/>
              <a:t>automático</a:t>
            </a:r>
            <a:r>
              <a:rPr lang="en-US" dirty="0"/>
              <a:t> al </a:t>
            </a:r>
            <a:r>
              <a:rPr lang="en-US" dirty="0" err="1"/>
              <a:t>hacer</a:t>
            </a:r>
            <a:r>
              <a:rPr lang="en-US" dirty="0"/>
              <a:t> push a la </a:t>
            </a:r>
            <a:r>
              <a:rPr lang="en-US" dirty="0" err="1"/>
              <a:t>rama</a:t>
            </a:r>
            <a:r>
              <a:rPr lang="en-US" dirty="0"/>
              <a:t> principal.</a:t>
            </a:r>
          </a:p>
          <a:p>
            <a:endParaRPr lang="en-US" dirty="0"/>
          </a:p>
          <a:p>
            <a:r>
              <a:rPr lang="en-US" dirty="0" err="1"/>
              <a:t>Utilizamos</a:t>
            </a:r>
            <a:r>
              <a:rPr lang="en-US" dirty="0"/>
              <a:t> </a:t>
            </a:r>
            <a:r>
              <a:rPr lang="en-US" dirty="0" err="1"/>
              <a:t>autenticación</a:t>
            </a:r>
            <a:r>
              <a:rPr lang="en-US" dirty="0"/>
              <a:t> JWT, cuatro roles — </a:t>
            </a:r>
            <a:r>
              <a:rPr lang="en-US" dirty="0" err="1"/>
              <a:t>administrador</a:t>
            </a:r>
            <a:r>
              <a:rPr lang="en-US" dirty="0"/>
              <a:t>, </a:t>
            </a:r>
            <a:r>
              <a:rPr lang="en-US" dirty="0" err="1"/>
              <a:t>clínico</a:t>
            </a:r>
            <a:r>
              <a:rPr lang="en-US" dirty="0"/>
              <a:t>, </a:t>
            </a:r>
            <a:r>
              <a:rPr lang="en-US" dirty="0" err="1"/>
              <a:t>analista</a:t>
            </a:r>
            <a:r>
              <a:rPr lang="en-US" dirty="0"/>
              <a:t> y </a:t>
            </a:r>
            <a:r>
              <a:rPr lang="en-US" dirty="0" err="1"/>
              <a:t>enfermería</a:t>
            </a:r>
            <a:r>
              <a:rPr lang="en-US" dirty="0"/>
              <a:t> — y un </a:t>
            </a:r>
            <a:r>
              <a:rPr lang="en-US" dirty="0" err="1"/>
              <a:t>esquema</a:t>
            </a:r>
            <a:r>
              <a:rPr lang="en-US" dirty="0"/>
              <a:t> </a:t>
            </a:r>
            <a:r>
              <a:rPr lang="en-US" dirty="0" err="1"/>
              <a:t>relacional</a:t>
            </a:r>
            <a:r>
              <a:rPr lang="en-US" dirty="0"/>
              <a:t> </a:t>
            </a:r>
            <a:r>
              <a:rPr lang="en-US" dirty="0" err="1"/>
              <a:t>normalizado</a:t>
            </a:r>
            <a:r>
              <a:rPr lang="en-US" dirty="0"/>
              <a:t> </a:t>
            </a:r>
            <a:r>
              <a:rPr lang="en-US" dirty="0" err="1"/>
              <a:t>documentado</a:t>
            </a:r>
            <a:r>
              <a:rPr lang="en-US" dirty="0"/>
              <a:t> con </a:t>
            </a:r>
            <a:r>
              <a:rPr lang="en-US" dirty="0" err="1"/>
              <a:t>diagramas</a:t>
            </a:r>
            <a:r>
              <a:rPr lang="en-US" dirty="0"/>
              <a:t>  </a:t>
            </a:r>
            <a:r>
              <a:rPr lang="en-US" dirty="0" err="1"/>
              <a:t>entidad-relación</a:t>
            </a:r>
            <a:r>
              <a:rPr lang="en-US" dirty="0"/>
              <a:t>.»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C5CD0-964A-412E-BAD3-D4ECB486B5E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2333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«En </a:t>
            </a:r>
            <a:r>
              <a:rPr lang="en-US" dirty="0" err="1"/>
              <a:t>conclusión</a:t>
            </a:r>
            <a:r>
              <a:rPr lang="en-US" dirty="0"/>
              <a:t>: se ha </a:t>
            </a:r>
            <a:r>
              <a:rPr lang="en-US" dirty="0" err="1"/>
              <a:t>entregado</a:t>
            </a:r>
            <a:r>
              <a:rPr lang="en-US" dirty="0"/>
              <a:t> un </a:t>
            </a:r>
            <a:r>
              <a:rPr lang="en-US" b="1" dirty="0" err="1"/>
              <a:t>proyecto</a:t>
            </a:r>
            <a:r>
              <a:rPr lang="en-US" b="1" dirty="0"/>
              <a:t> </a:t>
            </a:r>
            <a:r>
              <a:rPr lang="en-US" b="1" dirty="0" err="1"/>
              <a:t>funcional</a:t>
            </a:r>
            <a:r>
              <a:rPr lang="en-US" b="1" dirty="0"/>
              <a:t> de extremo a extremo</a:t>
            </a:r>
            <a:r>
              <a:rPr lang="en-US" dirty="0"/>
              <a:t>, </a:t>
            </a:r>
            <a:r>
              <a:rPr lang="en-US" dirty="0" err="1"/>
              <a:t>desplegado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la </a:t>
            </a:r>
            <a:r>
              <a:rPr lang="en-US" dirty="0" err="1"/>
              <a:t>nube</a:t>
            </a:r>
            <a:r>
              <a:rPr lang="en-US" dirty="0"/>
              <a:t>, </a:t>
            </a:r>
            <a:r>
              <a:rPr lang="en-US" dirty="0" err="1"/>
              <a:t>que</a:t>
            </a:r>
            <a:r>
              <a:rPr lang="en-US" dirty="0"/>
              <a:t> integra </a:t>
            </a:r>
            <a:r>
              <a:rPr lang="en-US" dirty="0" err="1"/>
              <a:t>predicción</a:t>
            </a:r>
            <a:r>
              <a:rPr lang="en-US" dirty="0"/>
              <a:t>, </a:t>
            </a:r>
            <a:r>
              <a:rPr lang="en-US" dirty="0" err="1"/>
              <a:t>explicabilidad</a:t>
            </a:r>
            <a:r>
              <a:rPr lang="en-US" dirty="0"/>
              <a:t> SHAP y </a:t>
            </a:r>
            <a:r>
              <a:rPr lang="en-US" dirty="0" err="1"/>
              <a:t>simulación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experiencia</a:t>
            </a:r>
            <a:r>
              <a:rPr lang="en-US" dirty="0"/>
              <a:t> de </a:t>
            </a:r>
            <a:r>
              <a:rPr lang="en-US" dirty="0" err="1"/>
              <a:t>usuario</a:t>
            </a:r>
            <a:r>
              <a:rPr lang="en-US" dirty="0"/>
              <a:t> </a:t>
            </a:r>
            <a:r>
              <a:rPr lang="en-US" dirty="0" err="1"/>
              <a:t>clínica</a:t>
            </a:r>
            <a:r>
              <a:rPr lang="en-US" dirty="0"/>
              <a:t> moderna.</a:t>
            </a:r>
          </a:p>
          <a:p>
            <a:endParaRPr lang="en-US" dirty="0"/>
          </a:p>
          <a:p>
            <a:r>
              <a:rPr lang="en-US" dirty="0"/>
              <a:t>El valor del Proyecto no reside solo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porcentaje</a:t>
            </a:r>
            <a:r>
              <a:rPr lang="en-US" dirty="0"/>
              <a:t> de accuracy — </a:t>
            </a:r>
            <a:r>
              <a:rPr lang="en-US" dirty="0" err="1"/>
              <a:t>que</a:t>
            </a:r>
            <a:r>
              <a:rPr lang="en-US" dirty="0"/>
              <a:t> es </a:t>
            </a:r>
            <a:r>
              <a:rPr lang="en-US" dirty="0" err="1"/>
              <a:t>mejorable</a:t>
            </a:r>
            <a:r>
              <a:rPr lang="en-US" dirty="0"/>
              <a:t> — </a:t>
            </a:r>
            <a:r>
              <a:rPr lang="en-US" dirty="0" err="1"/>
              <a:t>sino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la </a:t>
            </a:r>
            <a:r>
              <a:rPr lang="en-US" b="1" dirty="0" err="1"/>
              <a:t>arquitectura</a:t>
            </a:r>
            <a:r>
              <a:rPr lang="en-US" b="1" dirty="0"/>
              <a:t> auditable</a:t>
            </a:r>
            <a:r>
              <a:rPr lang="en-US" dirty="0"/>
              <a:t>, la </a:t>
            </a:r>
            <a:r>
              <a:rPr lang="en-US" b="1" dirty="0" err="1"/>
              <a:t>transparencia</a:t>
            </a:r>
            <a:r>
              <a:rPr lang="en-US" dirty="0"/>
              <a:t> </a:t>
            </a:r>
            <a:r>
              <a:rPr lang="en-US" dirty="0" err="1"/>
              <a:t>frente</a:t>
            </a:r>
            <a:r>
              <a:rPr lang="en-US" dirty="0"/>
              <a:t> al </a:t>
            </a:r>
            <a:r>
              <a:rPr lang="en-US" dirty="0" err="1"/>
              <a:t>clínico</a:t>
            </a:r>
            <a:r>
              <a:rPr lang="en-US" dirty="0"/>
              <a:t>, y la </a:t>
            </a:r>
            <a:r>
              <a:rPr lang="en-US" b="1" dirty="0" err="1"/>
              <a:t>reproducibilidad</a:t>
            </a:r>
            <a:r>
              <a:rPr lang="en-US" dirty="0"/>
              <a:t> del pipeline </a:t>
            </a:r>
            <a:r>
              <a:rPr lang="en-US" dirty="0" err="1"/>
              <a:t>completo</a:t>
            </a:r>
            <a:r>
              <a:rPr lang="en-US" dirty="0"/>
              <a:t>, </a:t>
            </a:r>
            <a:r>
              <a:rPr lang="en-US" dirty="0" err="1"/>
              <a:t>desde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dataset </a:t>
            </a:r>
            <a:r>
              <a:rPr lang="en-US" dirty="0" err="1"/>
              <a:t>público</a:t>
            </a:r>
            <a:r>
              <a:rPr lang="en-US" dirty="0"/>
              <a:t> hasta la </a:t>
            </a:r>
            <a:r>
              <a:rPr lang="en-US" dirty="0" err="1"/>
              <a:t>inferencia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producción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C5CD0-964A-412E-BAD3-D4ECB486B5E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9836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«Como </a:t>
            </a:r>
            <a:r>
              <a:rPr lang="en-US" dirty="0" err="1"/>
              <a:t>trabajo</a:t>
            </a:r>
            <a:r>
              <a:rPr lang="en-US" dirty="0"/>
              <a:t> future se </a:t>
            </a:r>
            <a:r>
              <a:rPr lang="en-US" dirty="0" err="1"/>
              <a:t>podrían</a:t>
            </a:r>
            <a:r>
              <a:rPr lang="en-US" dirty="0"/>
              <a:t> </a:t>
            </a:r>
            <a:r>
              <a:rPr lang="en-US" dirty="0" err="1"/>
              <a:t>implementar</a:t>
            </a:r>
            <a:r>
              <a:rPr lang="en-US" dirty="0"/>
              <a:t> las </a:t>
            </a:r>
            <a:r>
              <a:rPr lang="en-US" dirty="0" err="1"/>
              <a:t>siguientes</a:t>
            </a:r>
            <a:r>
              <a:rPr lang="en-US" dirty="0"/>
              <a:t> </a:t>
            </a:r>
            <a:r>
              <a:rPr lang="en-US" dirty="0" err="1"/>
              <a:t>mejoras</a:t>
            </a:r>
            <a:r>
              <a:rPr lang="en-US" dirty="0"/>
              <a:t>: </a:t>
            </a:r>
            <a:r>
              <a:rPr lang="en-US" dirty="0" err="1"/>
              <a:t>validación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centros</a:t>
            </a:r>
            <a:r>
              <a:rPr lang="en-US" dirty="0"/>
              <a:t> </a:t>
            </a:r>
            <a:r>
              <a:rPr lang="en-US" dirty="0" err="1"/>
              <a:t>hospitalarios</a:t>
            </a:r>
            <a:r>
              <a:rPr lang="en-US" dirty="0"/>
              <a:t>, </a:t>
            </a:r>
            <a:r>
              <a:rPr lang="en-US" dirty="0" err="1"/>
              <a:t>calibración</a:t>
            </a:r>
            <a:r>
              <a:rPr lang="en-US" dirty="0"/>
              <a:t> del umbral, </a:t>
            </a:r>
            <a:r>
              <a:rPr lang="en-US" dirty="0" err="1"/>
              <a:t>integración</a:t>
            </a:r>
            <a:r>
              <a:rPr lang="en-US" dirty="0"/>
              <a:t> con </a:t>
            </a:r>
            <a:r>
              <a:rPr lang="en-US" dirty="0" err="1"/>
              <a:t>estándares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FHIR, y </a:t>
            </a:r>
            <a:r>
              <a:rPr lang="en-US" dirty="0" err="1"/>
              <a:t>evolución</a:t>
            </a:r>
            <a:r>
              <a:rPr lang="en-US" dirty="0"/>
              <a:t> del </a:t>
            </a:r>
            <a:r>
              <a:rPr lang="en-US" dirty="0" err="1"/>
              <a:t>modelo</a:t>
            </a:r>
            <a:r>
              <a:rPr lang="en-US" dirty="0"/>
              <a:t> con </a:t>
            </a:r>
            <a:r>
              <a:rPr lang="en-US" dirty="0" err="1"/>
              <a:t>más</a:t>
            </a:r>
            <a:r>
              <a:rPr lang="en-US" dirty="0"/>
              <a:t> variables </a:t>
            </a:r>
            <a:r>
              <a:rPr lang="en-US" dirty="0" err="1"/>
              <a:t>clínicas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Muchas</a:t>
            </a:r>
            <a:r>
              <a:rPr lang="en-US" dirty="0"/>
              <a:t> gracias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atención</a:t>
            </a:r>
            <a:r>
              <a:rPr lang="en-US" dirty="0"/>
              <a:t>. Quedo a </a:t>
            </a:r>
            <a:r>
              <a:rPr lang="en-US" dirty="0" err="1"/>
              <a:t>disposición</a:t>
            </a:r>
            <a:r>
              <a:rPr lang="en-US" dirty="0"/>
              <a:t> para </a:t>
            </a:r>
            <a:r>
              <a:rPr lang="en-US" dirty="0" err="1"/>
              <a:t>cualquier</a:t>
            </a:r>
            <a:r>
              <a:rPr lang="en-US" dirty="0"/>
              <a:t> </a:t>
            </a:r>
            <a:r>
              <a:rPr lang="en-US" dirty="0" err="1"/>
              <a:t>aclaración</a:t>
            </a:r>
            <a:r>
              <a:rPr lang="en-US" dirty="0"/>
              <a:t> </a:t>
            </a:r>
            <a:r>
              <a:rPr lang="en-US" dirty="0" err="1"/>
              <a:t>sobre</a:t>
            </a:r>
            <a:r>
              <a:rPr lang="en-US" dirty="0"/>
              <a:t> la memoria o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código</a:t>
            </a:r>
            <a:r>
              <a:rPr lang="en-US" dirty="0"/>
              <a:t> del </a:t>
            </a:r>
            <a:r>
              <a:rPr lang="en-US" dirty="0" err="1"/>
              <a:t>repositorio</a:t>
            </a:r>
            <a:r>
              <a:rPr lang="en-US" dirty="0"/>
              <a:t>.»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C5CD0-964A-412E-BAD3-D4ECB486B5E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1963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5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app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502920"/>
            <a:ext cx="13716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201168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58BC"/>
                </a:solidFill>
                <a:latin typeface="Segoe UI"/>
              </a:defRPr>
            </a:pPr>
            <a:r>
              <a:t>MedScope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191C1D"/>
                </a:solidFill>
                <a:latin typeface="Segoe UI"/>
              </a:defRPr>
            </a:pPr>
            <a:r>
              <a:t>Sistema de apoyo a la decisión clínica con IA explicable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70587" y="4572000"/>
            <a:ext cx="3711785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5C6772"/>
                </a:solidFill>
                <a:latin typeface="Segoe UI"/>
              </a:defRPr>
            </a:pPr>
            <a:r>
              <a:rPr lang="en-US" dirty="0"/>
              <a:t>Gastón Clara</a:t>
            </a:r>
            <a:endParaRPr dirty="0"/>
          </a:p>
          <a:p>
            <a:pPr algn="ctr">
              <a:defRPr sz="1600">
                <a:solidFill>
                  <a:srgbClr val="5C6772"/>
                </a:solidFill>
                <a:latin typeface="Segoe UI"/>
              </a:defRPr>
            </a:pPr>
            <a:r>
              <a:rPr dirty="0"/>
              <a:t>M</a:t>
            </a:r>
            <a:r>
              <a:rPr lang="en-US" dirty="0"/>
              <a:t>as</a:t>
            </a:r>
            <a:r>
              <a:rPr dirty="0"/>
              <a:t>ter Desarrollo con IA — BIG School</a:t>
            </a:r>
          </a:p>
          <a:p>
            <a:pPr algn="ctr">
              <a:defRPr sz="1600">
                <a:solidFill>
                  <a:srgbClr val="5C6772"/>
                </a:solidFill>
                <a:latin typeface="Segoe UI"/>
              </a:defRPr>
            </a:pPr>
            <a:r>
              <a:rPr dirty="0"/>
              <a:t>Julio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5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58BC"/>
                </a:solidFill>
                <a:latin typeface="Segoe UI"/>
              </a:defRPr>
            </a:pPr>
            <a:r>
              <a:t>El problema clínico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91C1D"/>
                </a:solidFill>
                <a:latin typeface="Segoe UI"/>
              </a:defRPr>
            </a:pPr>
            <a:r>
              <a:t>Las readmisiones hospitalarias a 30 días son costosas y evitables en parte</a:t>
            </a:r>
          </a:p>
          <a:p>
            <a:pPr>
              <a:spcAft>
                <a:spcPts val="1000"/>
              </a:spcAft>
              <a:defRPr sz="2000">
                <a:solidFill>
                  <a:srgbClr val="191C1D"/>
                </a:solidFill>
                <a:latin typeface="Segoe UI"/>
              </a:defRPr>
            </a:pPr>
            <a:r>
              <a:t>Los sistemas HIS almacenan datos pero no siempre anticipan el riesgo</a:t>
            </a:r>
          </a:p>
          <a:p>
            <a:pPr>
              <a:spcAft>
                <a:spcPts val="1000"/>
              </a:spcAft>
              <a:defRPr sz="2000">
                <a:solidFill>
                  <a:srgbClr val="191C1D"/>
                </a:solidFill>
                <a:latin typeface="Segoe UI"/>
              </a:defRPr>
            </a:pPr>
            <a:r>
              <a:t>Los modelos de IA sin explicación generan desconfianza en el personal clínico</a:t>
            </a:r>
          </a:p>
          <a:p>
            <a:pPr>
              <a:spcAft>
                <a:spcPts val="1000"/>
              </a:spcAft>
              <a:defRPr sz="2000">
                <a:solidFill>
                  <a:srgbClr val="191C1D"/>
                </a:solidFill>
                <a:latin typeface="Segoe UI"/>
              </a:defRPr>
            </a:pPr>
            <a:r>
              <a:t>Necesidad: predicción + transparencia + exploración de escenarios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5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58BC"/>
                </a:solidFill>
                <a:latin typeface="Segoe UI"/>
              </a:defRPr>
            </a:pPr>
            <a:r>
              <a:t>MedScope AI — ¿Qué 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91C1D"/>
                </a:solidFill>
                <a:latin typeface="Segoe UI"/>
              </a:defRPr>
            </a:pPr>
            <a:r>
              <a:t>Plataforma web CDSS (Clinical Decision Support System)</a:t>
            </a:r>
          </a:p>
          <a:p>
            <a:pPr>
              <a:spcAft>
                <a:spcPts val="1000"/>
              </a:spcAft>
              <a:defRPr sz="2000">
                <a:solidFill>
                  <a:srgbClr val="191C1D"/>
                </a:solidFill>
                <a:latin typeface="Segoe UI"/>
              </a:defRPr>
            </a:pPr>
            <a:r>
              <a:t>Predicción de riesgo de readmisión a 30 días (diabetes, dataset UCI)</a:t>
            </a:r>
          </a:p>
          <a:p>
            <a:pPr>
              <a:spcAft>
                <a:spcPts val="1000"/>
              </a:spcAft>
              <a:defRPr sz="2000">
                <a:solidFill>
                  <a:srgbClr val="191C1D"/>
                </a:solidFill>
                <a:latin typeface="Segoe UI"/>
              </a:defRPr>
            </a:pPr>
            <a:r>
              <a:t>SHAP: explicación de qué variables impulsan el riesgo</a:t>
            </a:r>
          </a:p>
          <a:p>
            <a:pPr>
              <a:spcAft>
                <a:spcPts val="1000"/>
              </a:spcAft>
              <a:defRPr sz="2000">
                <a:solidFill>
                  <a:srgbClr val="191C1D"/>
                </a:solidFill>
                <a:latin typeface="Segoe UI"/>
              </a:defRPr>
            </a:pPr>
            <a:r>
              <a:t>Simulación what-if: mejor glucosa o menos admisiones previas</a:t>
            </a:r>
          </a:p>
          <a:p>
            <a:pPr>
              <a:spcAft>
                <a:spcPts val="1000"/>
              </a:spcAft>
              <a:defRPr sz="2000">
                <a:solidFill>
                  <a:srgbClr val="191C1D"/>
                </a:solidFill>
                <a:latin typeface="Segoe UI"/>
              </a:defRPr>
            </a:pPr>
            <a:r>
              <a:t>No es un sistema de diagnóstico ni de prescripción</a:t>
            </a:r>
          </a:p>
        </p:txBody>
      </p:sp>
      <p:pic>
        <p:nvPicPr>
          <p:cNvPr id="5" name="Picture 4" descr="01_spla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371600"/>
            <a:ext cx="5029200" cy="31432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5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58BC"/>
                </a:solidFill>
                <a:latin typeface="Segoe UI"/>
              </a:defRPr>
            </a:pPr>
            <a:r>
              <a:t>Objetivos del TFM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91C1D"/>
                </a:solidFill>
                <a:latin typeface="Segoe UI"/>
              </a:defRPr>
            </a:pPr>
            <a:r>
              <a:t>Pipeline ML reproducible offline → producción</a:t>
            </a:r>
          </a:p>
          <a:p>
            <a:pPr>
              <a:spcAft>
                <a:spcPts val="1000"/>
              </a:spcAft>
              <a:defRPr sz="2000">
                <a:solidFill>
                  <a:srgbClr val="191C1D"/>
                </a:solidFill>
                <a:latin typeface="Segoe UI"/>
              </a:defRPr>
            </a:pPr>
            <a:r>
              <a:t>API REST segura (JWT, roles clínico / analista / admin)</a:t>
            </a:r>
          </a:p>
          <a:p>
            <a:pPr>
              <a:spcAft>
                <a:spcPts val="1000"/>
              </a:spcAft>
              <a:defRPr sz="2000">
                <a:solidFill>
                  <a:srgbClr val="191C1D"/>
                </a:solidFill>
                <a:latin typeface="Segoe UI"/>
              </a:defRPr>
            </a:pPr>
            <a:r>
              <a:t>Interfaz clínica moderna (React + TypeScript)</a:t>
            </a:r>
          </a:p>
          <a:p>
            <a:pPr>
              <a:spcAft>
                <a:spcPts val="1000"/>
              </a:spcAft>
              <a:defRPr sz="2000">
                <a:solidFill>
                  <a:srgbClr val="191C1D"/>
                </a:solidFill>
                <a:latin typeface="Segoe UI"/>
              </a:defRPr>
            </a:pPr>
            <a:r>
              <a:t>Persistencia PostgreSQL e historial auditable</a:t>
            </a:r>
          </a:p>
          <a:p>
            <a:pPr>
              <a:spcAft>
                <a:spcPts val="1000"/>
              </a:spcAft>
              <a:defRPr sz="2000">
                <a:solidFill>
                  <a:srgbClr val="191C1D"/>
                </a:solidFill>
                <a:latin typeface="Segoe UI"/>
              </a:defRPr>
            </a:pPr>
            <a:r>
              <a:t>Despliegue cloud real (Vercel + Render + Supabase)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5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58BC"/>
                </a:solidFill>
                <a:latin typeface="Segoe UI"/>
              </a:defRPr>
            </a:pPr>
            <a:r>
              <a:t>Arquitectura — monolito modular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828800"/>
            <a:ext cx="1828800" cy="1005840"/>
          </a:xfrm>
          <a:prstGeom prst="rect">
            <a:avLst/>
          </a:prstGeom>
          <a:solidFill>
            <a:srgbClr val="F5F7FA"/>
          </a:solidFill>
          <a:ln>
            <a:solidFill>
              <a:srgbClr val="005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91C1D"/>
                </a:solidFill>
                <a:latin typeface="Segoe UI"/>
              </a:defRPr>
            </a:pPr>
            <a:r>
              <a:t>Navegador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1828800"/>
            <a:ext cx="1828800" cy="1005840"/>
          </a:xfrm>
          <a:prstGeom prst="rect">
            <a:avLst/>
          </a:prstGeom>
          <a:solidFill>
            <a:srgbClr val="F5F7FA"/>
          </a:solidFill>
          <a:ln>
            <a:solidFill>
              <a:srgbClr val="005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91C1D"/>
                </a:solidFill>
                <a:latin typeface="Segoe UI"/>
              </a:defRPr>
            </a:pPr>
            <a:r>
              <a:t>Vercel</a:t>
            </a:r>
            <a:br/>
            <a:r>
              <a:t>React SPA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0" y="1828800"/>
            <a:ext cx="1828800" cy="1005840"/>
          </a:xfrm>
          <a:prstGeom prst="rect">
            <a:avLst/>
          </a:prstGeom>
          <a:solidFill>
            <a:srgbClr val="F5F7FA"/>
          </a:solidFill>
          <a:ln>
            <a:solidFill>
              <a:srgbClr val="005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91C1D"/>
                </a:solidFill>
                <a:latin typeface="Segoe UI"/>
              </a:defRPr>
            </a:pPr>
            <a:r>
              <a:t>Render</a:t>
            </a:r>
            <a:br/>
            <a:r>
              <a:t>FastAPI + ML</a:t>
            </a:r>
          </a:p>
        </p:txBody>
      </p:sp>
      <p:sp>
        <p:nvSpPr>
          <p:cNvPr id="7" name="Rectangle 6"/>
          <p:cNvSpPr/>
          <p:nvPr/>
        </p:nvSpPr>
        <p:spPr>
          <a:xfrm>
            <a:off x="7863840" y="1828800"/>
            <a:ext cx="1828800" cy="1005840"/>
          </a:xfrm>
          <a:prstGeom prst="rect">
            <a:avLst/>
          </a:prstGeom>
          <a:solidFill>
            <a:srgbClr val="F5F7FA"/>
          </a:solidFill>
          <a:ln>
            <a:solidFill>
              <a:srgbClr val="005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91C1D"/>
                </a:solidFill>
                <a:latin typeface="Segoe UI"/>
              </a:defRPr>
            </a:pPr>
            <a:r>
              <a:t>Supabase</a:t>
            </a:r>
            <a:br/>
            <a:r>
              <a:t>PostgreSQL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224028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58BC"/>
                </a:solidFill>
              </a:defRPr>
            </a:pPr>
            <a: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224028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58BC"/>
                </a:solidFill>
              </a:defRPr>
            </a:pPr>
            <a: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224028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58BC"/>
                </a:solidFill>
              </a:defRPr>
            </a:pPr>
            <a: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2004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91C1D"/>
                </a:solidFill>
                <a:latin typeface="Segoe UI"/>
              </a:defRPr>
            </a:pPr>
            <a:r>
              <a:t>Frontend: React en Vercel</a:t>
            </a:r>
          </a:p>
          <a:p>
            <a:pPr>
              <a:spcAft>
                <a:spcPts val="1000"/>
              </a:spcAft>
              <a:defRPr sz="1800">
                <a:solidFill>
                  <a:srgbClr val="191C1D"/>
                </a:solidFill>
                <a:latin typeface="Segoe UI"/>
              </a:defRPr>
            </a:pPr>
            <a:r>
              <a:t>Backend + ML: FastAPI en Render (Docker)</a:t>
            </a:r>
          </a:p>
          <a:p>
            <a:pPr>
              <a:spcAft>
                <a:spcPts val="1000"/>
              </a:spcAft>
              <a:defRPr sz="1800">
                <a:solidFill>
                  <a:srgbClr val="191C1D"/>
                </a:solidFill>
                <a:latin typeface="Segoe UI"/>
              </a:defRPr>
            </a:pPr>
            <a:r>
              <a:t>Base de datos: PostgreSQL (Supabase)</a:t>
            </a:r>
          </a:p>
          <a:p>
            <a:pPr>
              <a:spcAft>
                <a:spcPts val="1000"/>
              </a:spcAft>
              <a:defRPr sz="1800">
                <a:solidFill>
                  <a:srgbClr val="191C1D"/>
                </a:solidFill>
                <a:latin typeface="Segoe UI"/>
              </a:defRPr>
            </a:pPr>
            <a:r>
              <a:t>ML: entrenamiento offline; inferencia al arranque del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772"/>
                </a:solidFill>
                <a:latin typeface="Segoe UI"/>
              </a:defRPr>
            </a:pPr>
            <a:r>
              <a:t>Un repositorio, tres capas desacopladas — sin microservicios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5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58BC"/>
                </a:solidFill>
                <a:latin typeface="Segoe UI"/>
              </a:defRPr>
            </a:pPr>
            <a:r>
              <a:t>Pipeline ML — train → serialize → infer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828800"/>
            <a:ext cx="1691640" cy="685800"/>
          </a:xfrm>
          <a:prstGeom prst="rect">
            <a:avLst/>
          </a:prstGeom>
          <a:solidFill>
            <a:srgbClr val="F5F7FA"/>
          </a:solidFill>
          <a:ln>
            <a:solidFill>
              <a:srgbClr val="005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91C1D"/>
                </a:solidFill>
              </a:defRPr>
            </a:pPr>
            <a:r>
              <a:t>UCI Dataset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1828800"/>
            <a:ext cx="1691640" cy="685800"/>
          </a:xfrm>
          <a:prstGeom prst="rect">
            <a:avLst/>
          </a:prstGeom>
          <a:solidFill>
            <a:srgbClr val="F5F7FA"/>
          </a:solidFill>
          <a:ln>
            <a:solidFill>
              <a:srgbClr val="005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91C1D"/>
                </a:solidFill>
              </a:defRPr>
            </a:pPr>
            <a:r>
              <a:t>Preprocess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60520" y="1828800"/>
            <a:ext cx="1691640" cy="685800"/>
          </a:xfrm>
          <a:prstGeom prst="rect">
            <a:avLst/>
          </a:prstGeom>
          <a:solidFill>
            <a:srgbClr val="F5F7FA"/>
          </a:solidFill>
          <a:ln>
            <a:solidFill>
              <a:srgbClr val="005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91C1D"/>
                </a:solidFill>
              </a:defRPr>
            </a:pPr>
            <a:r>
              <a:t>Train LR/RF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0" y="1828800"/>
            <a:ext cx="1691640" cy="685800"/>
          </a:xfrm>
          <a:prstGeom prst="rect">
            <a:avLst/>
          </a:prstGeom>
          <a:solidFill>
            <a:srgbClr val="F5F7FA"/>
          </a:solidFill>
          <a:ln>
            <a:solidFill>
              <a:srgbClr val="005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91C1D"/>
                </a:solidFill>
              </a:defRPr>
            </a:pPr>
            <a:r>
              <a:t>Evaluate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7909559" y="1828800"/>
            <a:ext cx="1691640" cy="685800"/>
          </a:xfrm>
          <a:prstGeom prst="rect">
            <a:avLst/>
          </a:prstGeom>
          <a:solidFill>
            <a:srgbClr val="F5F7FA"/>
          </a:solidFill>
          <a:ln>
            <a:solidFill>
              <a:srgbClr val="005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91C1D"/>
                </a:solidFill>
              </a:defRPr>
            </a:pPr>
            <a:r>
              <a:t>Serialize</a:t>
            </a:r>
          </a:p>
        </p:txBody>
      </p:sp>
      <p:sp>
        <p:nvSpPr>
          <p:cNvPr id="9" name="Rectangle 8"/>
          <p:cNvSpPr/>
          <p:nvPr/>
        </p:nvSpPr>
        <p:spPr>
          <a:xfrm>
            <a:off x="9784080" y="1828800"/>
            <a:ext cx="1691640" cy="685800"/>
          </a:xfrm>
          <a:prstGeom prst="rect">
            <a:avLst/>
          </a:prstGeom>
          <a:solidFill>
            <a:srgbClr val="F5F7FA"/>
          </a:solidFill>
          <a:ln>
            <a:solidFill>
              <a:srgbClr val="005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91C1D"/>
                </a:solidFill>
              </a:defRPr>
            </a:pPr>
            <a:r>
              <a:t>Infer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9260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91C1D"/>
                </a:solidFill>
                <a:latin typeface="Segoe UI"/>
              </a:defRPr>
            </a:pPr>
            <a:r>
              <a:t>Dataset: UCI Diabetes 130-US hospitals (101.766 encuentros)</a:t>
            </a:r>
          </a:p>
          <a:p>
            <a:pPr>
              <a:spcAft>
                <a:spcPts val="1000"/>
              </a:spcAft>
              <a:defRPr sz="1700">
                <a:solidFill>
                  <a:srgbClr val="191C1D"/>
                </a:solidFill>
                <a:latin typeface="Segoe UI"/>
              </a:defRPr>
            </a:pPr>
            <a:r>
              <a:t>19 features clínicas · split 80/20 · random_state=42</a:t>
            </a:r>
          </a:p>
          <a:p>
            <a:pPr>
              <a:spcAft>
                <a:spcPts val="1000"/>
              </a:spcAft>
              <a:defRPr sz="1700">
                <a:solidFill>
                  <a:srgbClr val="191C1D"/>
                </a:solidFill>
                <a:latin typeface="Segoe UI"/>
              </a:defRPr>
            </a:pPr>
            <a:r>
              <a:t>Modelos: Logistic Regression, Random Forest, XGBoost</a:t>
            </a:r>
          </a:p>
          <a:p>
            <a:pPr>
              <a:spcAft>
                <a:spcPts val="1000"/>
              </a:spcAft>
              <a:defRPr sz="1700">
                <a:solidFill>
                  <a:srgbClr val="191C1D"/>
                </a:solidFill>
                <a:latin typeface="Segoe UI"/>
              </a:defRPr>
            </a:pPr>
            <a:r>
              <a:t>Artefactos: model.pkl, preprocessor.pkl, SHAP background</a:t>
            </a:r>
          </a:p>
          <a:p>
            <a:pPr>
              <a:spcAft>
                <a:spcPts val="1000"/>
              </a:spcAft>
              <a:defRPr sz="1700">
                <a:solidFill>
                  <a:srgbClr val="191C1D"/>
                </a:solidFill>
                <a:latin typeface="Segoe UI"/>
              </a:defRPr>
            </a:pPr>
            <a:r>
              <a:t>Nunca se reentrena en cada petición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5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58BC"/>
                </a:solidFill>
                <a:latin typeface="Segoe UI"/>
              </a:defRPr>
            </a:pPr>
            <a:r>
              <a:t>Resultados ML (test hold-out)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554480"/>
          <a:ext cx="77724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Métrica</a:t>
                      </a:r>
                    </a:p>
                  </a:txBody>
                  <a:tcPr>
                    <a:solidFill>
                      <a:srgbClr val="0058B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Logistic Regression</a:t>
                      </a:r>
                    </a:p>
                  </a:txBody>
                  <a:tcPr>
                    <a:solidFill>
                      <a:srgbClr val="0058B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0058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91C1D"/>
                          </a:solidFill>
                          <a:latin typeface="Segoe UI"/>
                        </a:defRPr>
                      </a:pPr>
                      <a: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91C1D"/>
                          </a:solidFill>
                          <a:latin typeface="Segoe UI"/>
                        </a:defRPr>
                      </a:pPr>
                      <a:r>
                        <a:t>60,7 %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91C1D"/>
                          </a:solidFill>
                          <a:latin typeface="Segoe UI"/>
                        </a:defRPr>
                      </a:pPr>
                      <a:r>
                        <a:t>82,2 %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91C1D"/>
                          </a:solidFill>
                          <a:latin typeface="Segoe UI"/>
                        </a:defRPr>
                      </a:pPr>
                      <a:r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91C1D"/>
                          </a:solidFill>
                          <a:latin typeface="Segoe UI"/>
                        </a:defRPr>
                      </a:pPr>
                      <a:r>
                        <a:t>54,2 %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91C1D"/>
                          </a:solidFill>
                          <a:latin typeface="Segoe UI"/>
                        </a:defRPr>
                      </a:pPr>
                      <a:r>
                        <a:t>20,1 %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91C1D"/>
                          </a:solidFill>
                          <a:latin typeface="Segoe UI"/>
                        </a:defRPr>
                      </a:pPr>
                      <a:r>
                        <a:t>ROC-AUC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91C1D"/>
                          </a:solidFill>
                          <a:latin typeface="Segoe UI"/>
                        </a:defRPr>
                      </a:pPr>
                      <a:r>
                        <a:t>0,61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91C1D"/>
                          </a:solidFill>
                          <a:latin typeface="Segoe UI"/>
                        </a:defRPr>
                      </a:pPr>
                      <a:r>
                        <a:t>0,59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778240" y="1554480"/>
            <a:ext cx="2743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91C1D"/>
                </a:solidFill>
                <a:latin typeface="Segoe UI"/>
              </a:defRPr>
            </a:pPr>
            <a:r>
              <a:t>Modelo en producción: Logistic Regression v1.0.0</a:t>
            </a:r>
          </a:p>
          <a:p>
            <a:pPr>
              <a:spcAft>
                <a:spcPts val="1000"/>
              </a:spcAft>
              <a:defRPr sz="1400">
                <a:solidFill>
                  <a:srgbClr val="191C1D"/>
                </a:solidFill>
                <a:latin typeface="Segoe UI"/>
              </a:defRPr>
            </a:pPr>
            <a:r>
              <a:t>Criterio: priorizar recall frente a accuracy pura</a:t>
            </a:r>
          </a:p>
          <a:p>
            <a:pPr>
              <a:spcAft>
                <a:spcPts val="1000"/>
              </a:spcAft>
              <a:defRPr sz="1400">
                <a:solidFill>
                  <a:srgbClr val="191C1D"/>
                </a:solidFill>
                <a:latin typeface="Segoe UI"/>
              </a:defRPr>
            </a:pPr>
            <a:r>
              <a:t>KPI accuracy &gt; 75 % no alcanzado — limitación documentada</a:t>
            </a:r>
          </a:p>
        </p:txBody>
      </p:sp>
      <p:pic>
        <p:nvPicPr>
          <p:cNvPr id="6" name="Picture 5" descr="02_target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3657600"/>
            <a:ext cx="3017520" cy="107544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5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58BC"/>
                </a:solidFill>
                <a:latin typeface="Segoe UI"/>
              </a:defRPr>
            </a:pPr>
            <a:r>
              <a:t>Demostración en producción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58BC"/>
                </a:solidFill>
              </a:defRPr>
            </a:pPr>
            <a:r>
              <a:t>Demo en vivo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191C1D"/>
                </a:solidFill>
              </a:defRPr>
            </a:pPr>
            <a:r>
              <a:t>https://medscope-ai-delta.vercel.app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8404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91C1D"/>
                </a:solidFill>
                <a:latin typeface="Segoe UI"/>
              </a:defRPr>
            </a:pPr>
            <a:r>
              <a:t>API: medscope-ai-q8tg.onrender.com</a:t>
            </a:r>
          </a:p>
          <a:p>
            <a:pPr>
              <a:spcAft>
                <a:spcPts val="1000"/>
              </a:spcAft>
              <a:defRPr sz="1800">
                <a:solidFill>
                  <a:srgbClr val="191C1D"/>
                </a:solidFill>
                <a:latin typeface="Segoe UI"/>
              </a:defRPr>
            </a:pPr>
            <a:r>
              <a:t>Casos sintéticos · sin datos reales de pacientes</a:t>
            </a:r>
          </a:p>
          <a:p>
            <a:pPr>
              <a:spcAft>
                <a:spcPts val="1000"/>
              </a:spcAft>
              <a:defRPr sz="1800">
                <a:solidFill>
                  <a:srgbClr val="191C1D"/>
                </a:solidFill>
                <a:latin typeface="Segoe UI"/>
              </a:defRPr>
            </a:pPr>
            <a:r>
              <a:t>A continuación: recorrido clínico completo en vídeo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5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58BC"/>
                </a:solidFill>
                <a:latin typeface="Segoe UI"/>
              </a:defRPr>
            </a:pPr>
            <a:r>
              <a:t>Interfaz clínica — vistas clave</a:t>
            </a:r>
          </a:p>
        </p:txBody>
      </p:sp>
      <p:pic>
        <p:nvPicPr>
          <p:cNvPr id="4" name="Picture 3" descr="03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5394960" cy="2103120"/>
          </a:xfrm>
          <a:prstGeom prst="rect">
            <a:avLst/>
          </a:prstGeom>
        </p:spPr>
      </p:pic>
      <p:pic>
        <p:nvPicPr>
          <p:cNvPr id="5" name="Picture 4" descr="05_prediction_result_sh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371600"/>
            <a:ext cx="5394960" cy="2103120"/>
          </a:xfrm>
          <a:prstGeom prst="rect">
            <a:avLst/>
          </a:prstGeom>
        </p:spPr>
      </p:pic>
      <p:pic>
        <p:nvPicPr>
          <p:cNvPr id="6" name="Picture 5" descr="06_simula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657600"/>
            <a:ext cx="5394960" cy="2103120"/>
          </a:xfrm>
          <a:prstGeom prst="rect">
            <a:avLst/>
          </a:prstGeom>
        </p:spPr>
      </p:pic>
      <p:pic>
        <p:nvPicPr>
          <p:cNvPr id="7" name="Picture 6" descr="08_analytic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3657600"/>
            <a:ext cx="5394960" cy="2103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772"/>
                </a:solidFill>
                <a:latin typeface="Segoe UI"/>
              </a:defRPr>
            </a:pPr>
            <a:r>
              <a:t>Capturas reales de la aplicación (Playwright, T-808)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5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58BC"/>
                </a:solidFill>
                <a:latin typeface="Segoe UI"/>
              </a:defRPr>
            </a:pPr>
            <a:r>
              <a:t>Calidad de software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91C1D"/>
                </a:solidFill>
                <a:latin typeface="Segoe UI"/>
              </a:defRPr>
            </a:pPr>
            <a:r>
              <a:t>215+ tests backend (pytest) · cobertura ~95 %</a:t>
            </a:r>
          </a:p>
          <a:p>
            <a:pPr>
              <a:spcAft>
                <a:spcPts val="1000"/>
              </a:spcAft>
              <a:defRPr sz="2000">
                <a:solidFill>
                  <a:srgbClr val="191C1D"/>
                </a:solidFill>
                <a:latin typeface="Segoe UI"/>
              </a:defRPr>
            </a:pPr>
            <a:r>
              <a:t>Tests ML (RTS-010) · E2E Playwright flujo MVP completo</a:t>
            </a:r>
          </a:p>
          <a:p>
            <a:pPr>
              <a:spcAft>
                <a:spcPts val="1000"/>
              </a:spcAft>
              <a:defRPr sz="2000">
                <a:solidFill>
                  <a:srgbClr val="191C1D"/>
                </a:solidFill>
                <a:latin typeface="Segoe UI"/>
              </a:defRPr>
            </a:pPr>
            <a:r>
              <a:t>CI en GitHub Actions · despliegue automático en main</a:t>
            </a:r>
          </a:p>
          <a:p>
            <a:pPr>
              <a:spcAft>
                <a:spcPts val="1000"/>
              </a:spcAft>
              <a:defRPr sz="2000">
                <a:solidFill>
                  <a:srgbClr val="191C1D"/>
                </a:solidFill>
                <a:latin typeface="Segoe UI"/>
              </a:defRPr>
            </a:pPr>
            <a:r>
              <a:t>Esquema PostgreSQL en 3NF · migraciones Alembic</a:t>
            </a:r>
          </a:p>
          <a:p>
            <a:pPr>
              <a:spcAft>
                <a:spcPts val="1000"/>
              </a:spcAft>
              <a:defRPr sz="2000">
                <a:solidFill>
                  <a:srgbClr val="191C1D"/>
                </a:solidFill>
                <a:latin typeface="Segoe UI"/>
              </a:defRPr>
            </a:pPr>
            <a:r>
              <a:t>RBAC: admin, clinician, analyst, nurse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5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58BC"/>
                </a:solidFill>
                <a:latin typeface="Segoe UI"/>
              </a:defRPr>
            </a:pPr>
            <a:r>
              <a:t>Conclusiones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91C1D"/>
                </a:solidFill>
                <a:latin typeface="Segoe UI"/>
              </a:defRPr>
            </a:pPr>
            <a:r>
              <a:t>CDSS funcional end-to-end desplegado en cloud</a:t>
            </a:r>
          </a:p>
          <a:p>
            <a:pPr>
              <a:spcAft>
                <a:spcPts val="1000"/>
              </a:spcAft>
              <a:defRPr sz="2000">
                <a:solidFill>
                  <a:srgbClr val="191C1D"/>
                </a:solidFill>
                <a:latin typeface="Segoe UI"/>
              </a:defRPr>
            </a:pPr>
            <a:r>
              <a:t>Explicabilidad SHAP y simulación como diferencial frente a un clasificador opaco</a:t>
            </a:r>
          </a:p>
          <a:p>
            <a:pPr>
              <a:spcAft>
                <a:spcPts val="1000"/>
              </a:spcAft>
              <a:defRPr sz="2000">
                <a:solidFill>
                  <a:srgbClr val="191C1D"/>
                </a:solidFill>
                <a:latin typeface="Segoe UI"/>
              </a:defRPr>
            </a:pPr>
            <a:r>
              <a:t>Arquitectura enterprise lista para evolución (FHIR, multi-centro)</a:t>
            </a:r>
          </a:p>
          <a:p>
            <a:pPr>
              <a:spcAft>
                <a:spcPts val="1000"/>
              </a:spcAft>
              <a:defRPr sz="2000">
                <a:solidFill>
                  <a:srgbClr val="191C1D"/>
                </a:solidFill>
                <a:latin typeface="Segoe UI"/>
              </a:defRPr>
            </a:pPr>
            <a:r>
              <a:t>Transparencia sobre limitaciones del modelo (precision, generalización)</a:t>
            </a:r>
          </a:p>
          <a:p>
            <a:pPr>
              <a:spcAft>
                <a:spcPts val="1000"/>
              </a:spcAft>
              <a:defRPr sz="2000">
                <a:solidFill>
                  <a:srgbClr val="191C1D"/>
                </a:solidFill>
                <a:latin typeface="Segoe UI"/>
              </a:defRPr>
            </a:pPr>
            <a:r>
              <a:t>Contribución TFM: ingeniería + IA explicable, no solo accuracy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5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58BC"/>
                </a:solidFill>
                <a:latin typeface="Segoe UI"/>
              </a:defRPr>
            </a:pPr>
            <a:r>
              <a:t>Trabajo futuro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91C1D"/>
                </a:solidFill>
                <a:latin typeface="Segoe UI"/>
              </a:defRPr>
            </a:pPr>
            <a:r>
              <a:t>Validación externa en otro hospital</a:t>
            </a:r>
          </a:p>
          <a:p>
            <a:pPr>
              <a:spcAft>
                <a:spcPts val="1000"/>
              </a:spcAft>
              <a:defRPr sz="2000">
                <a:solidFill>
                  <a:srgbClr val="191C1D"/>
                </a:solidFill>
                <a:latin typeface="Segoe UI"/>
              </a:defRPr>
            </a:pPr>
            <a:r>
              <a:t>Calibración de umbral y nuevas features</a:t>
            </a:r>
          </a:p>
          <a:p>
            <a:pPr>
              <a:spcAft>
                <a:spcPts val="1000"/>
              </a:spcAft>
              <a:defRPr sz="2000">
                <a:solidFill>
                  <a:srgbClr val="191C1D"/>
                </a:solidFill>
                <a:latin typeface="Segoe UI"/>
              </a:defRPr>
            </a:pPr>
            <a:r>
              <a:t>Integración FHIR / estándares clínicos</a:t>
            </a:r>
          </a:p>
          <a:p>
            <a:pPr>
              <a:spcAft>
                <a:spcPts val="1000"/>
              </a:spcAft>
              <a:defRPr sz="2000">
                <a:solidFill>
                  <a:srgbClr val="191C1D"/>
                </a:solidFill>
                <a:latin typeface="Segoe UI"/>
              </a:defRPr>
            </a:pPr>
            <a:r>
              <a:t>Mejora continua del modelo (ensemble, más datos)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58BC"/>
                </a:solidFill>
              </a:defRPr>
            </a:pPr>
            <a:r>
              <a:t>Gracias por su atención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85169" y="5303520"/>
            <a:ext cx="368261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5C6772"/>
                </a:solidFill>
              </a:defRPr>
            </a:pPr>
            <a:r>
              <a:rPr lang="en-US" dirty="0"/>
              <a:t>gclara@gmail.com</a:t>
            </a:r>
          </a:p>
          <a:p>
            <a:pPr algn="ctr">
              <a:defRPr sz="1600">
                <a:solidFill>
                  <a:srgbClr val="5C6772"/>
                </a:solidFill>
              </a:defRPr>
            </a:pPr>
            <a:r>
              <a:rPr lang="en-US" dirty="0"/>
              <a:t>https://www.linkedin.com/in/gaston-clara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1557</Words>
  <Application>Microsoft Office PowerPoint</Application>
  <PresentationFormat>Widescreen</PresentationFormat>
  <Paragraphs>155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Gastón Jorge Clara Mandiá</cp:lastModifiedBy>
  <cp:revision>13</cp:revision>
  <dcterms:created xsi:type="dcterms:W3CDTF">2013-01-27T09:14:16Z</dcterms:created>
  <dcterms:modified xsi:type="dcterms:W3CDTF">2026-07-08T06:38:38Z</dcterms:modified>
  <cp:category/>
</cp:coreProperties>
</file>