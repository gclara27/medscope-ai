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6" d="100"/>
          <a:sy n="126" d="100"/>
        </p:scale>
        <p:origin x="672" y="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pp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5029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11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58BC"/>
                </a:solidFill>
                <a:latin typeface="Segoe UI"/>
              </a:defRPr>
            </a:pPr>
            <a:r>
              <a:t>MedScope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91C1D"/>
                </a:solidFill>
                <a:latin typeface="Segoe UI"/>
              </a:defRPr>
            </a:pPr>
            <a:r>
              <a:t>Sistema de apoyo a la decisión clínica con IA explicable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0587" y="4572000"/>
            <a:ext cx="371178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C6772"/>
                </a:solidFill>
                <a:latin typeface="Segoe UI"/>
              </a:defRPr>
            </a:pPr>
            <a:r>
              <a:rPr lang="en-US" dirty="0"/>
              <a:t>Gastón Clara</a:t>
            </a:r>
            <a:endParaRPr dirty="0"/>
          </a:p>
          <a:p>
            <a:pPr algn="ctr">
              <a:defRPr sz="1600">
                <a:solidFill>
                  <a:srgbClr val="5C6772"/>
                </a:solidFill>
                <a:latin typeface="Segoe UI"/>
              </a:defRPr>
            </a:pPr>
            <a:r>
              <a:rPr dirty="0" err="1"/>
              <a:t>Máster</a:t>
            </a:r>
            <a:r>
              <a:rPr dirty="0"/>
              <a:t> Desarrollo con IA — BIG School</a:t>
            </a:r>
          </a:p>
          <a:p>
            <a:pPr algn="ctr">
              <a:defRPr sz="1600">
                <a:solidFill>
                  <a:srgbClr val="5C6772"/>
                </a:solidFill>
                <a:latin typeface="Segoe UI"/>
              </a:defRPr>
            </a:pPr>
            <a:r>
              <a:rPr dirty="0"/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El problema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Las readmisiones hospitalarias a 30 días son costosas y evitables en parte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Los sistemas HIS almacenan datos pero no siempre anticipan el riesgo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Los modelos de IA sin explicación generan desconfianza en el personal clínico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Necesidad: predicción + transparencia + exploración de escenarios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MedScope AI — ¿Qué 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Plataforma web CDSS (Clinical Decision Support System)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Predicción de riesgo de readmisión a 30 días (diabetes, dataset UCI)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SHAP: explicación de qué variables impulsan el riesgo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Simulación what-if: mejor glucosa o menos admisiones previas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No es un sistema de diagnóstico ni de prescripción</a:t>
            </a:r>
          </a:p>
        </p:txBody>
      </p:sp>
      <p:pic>
        <p:nvPicPr>
          <p:cNvPr id="5" name="Picture 4" descr="01_spl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Objetivos del TFM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Pipeline ML reproducible offline → producción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API REST segura (JWT, roles clínico / analista / admin)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Interfaz clínica moderna (React + TypeScript)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Persistencia PostgreSQL e historial auditable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Despliegue cloud real (Vercel + Render + Supabase)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Arquitectura — monolito modular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828800" cy="100584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91C1D"/>
                </a:solidFill>
                <a:latin typeface="Segoe UI"/>
              </a:defRPr>
            </a:pPr>
            <a:r>
              <a:t>Navegador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828800"/>
            <a:ext cx="1828800" cy="100584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91C1D"/>
                </a:solidFill>
                <a:latin typeface="Segoe UI"/>
              </a:defRPr>
            </a:pPr>
            <a:r>
              <a:t>Vercel</a:t>
            </a:r>
            <a:br/>
            <a:r>
              <a:t>React 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0" y="1828800"/>
            <a:ext cx="1828800" cy="100584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91C1D"/>
                </a:solidFill>
                <a:latin typeface="Segoe UI"/>
              </a:defRPr>
            </a:pPr>
            <a:r>
              <a:t>Render</a:t>
            </a:r>
            <a:br/>
            <a:r>
              <a:t>FastAPI + ML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828800"/>
            <a:ext cx="1828800" cy="100584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91C1D"/>
                </a:solidFill>
                <a:latin typeface="Segoe UI"/>
              </a:defRPr>
            </a:pPr>
            <a:r>
              <a:t>Supabase</a:t>
            </a:r>
            <a:br/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2402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0058BC"/>
                </a:solidFill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2402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0058BC"/>
                </a:solidFill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2402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0058BC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Frontend: React en Vercel</a:t>
            </a:r>
          </a:p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Backend + ML: FastAPI en Render (Docker)</a:t>
            </a:r>
          </a:p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Base de datos: PostgreSQL (Supabase)</a:t>
            </a:r>
          </a:p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ML: entrenamiento offline; inferencia al arranque del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772"/>
                </a:solidFill>
                <a:latin typeface="Segoe UI"/>
              </a:defRPr>
            </a:pPr>
            <a:r>
              <a:t>Un repositorio, tres capas desacopladas — sin microservicios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Pipeline ML — train → serialize → infer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1691640" cy="68580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C1D"/>
                </a:solidFill>
              </a:defRPr>
            </a:pPr>
            <a:r>
              <a:t>UCI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828800"/>
            <a:ext cx="1691640" cy="68580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C1D"/>
                </a:solidFill>
              </a:defRPr>
            </a:pPr>
            <a:r>
              <a:t>Preprocess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0520" y="1828800"/>
            <a:ext cx="1691640" cy="68580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C1D"/>
                </a:solidFill>
              </a:defRPr>
            </a:pPr>
            <a:r>
              <a:t>Train LR/RF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828800"/>
            <a:ext cx="1691640" cy="68580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C1D"/>
                </a:solidFill>
              </a:defRPr>
            </a:pPr>
            <a:r>
              <a:t>Evaluate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9559" y="1828800"/>
            <a:ext cx="1691640" cy="68580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C1D"/>
                </a:solidFill>
              </a:defRPr>
            </a:pPr>
            <a:r>
              <a:t>Serialize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1828800"/>
            <a:ext cx="1691640" cy="685800"/>
          </a:xfrm>
          <a:prstGeom prst="rect">
            <a:avLst/>
          </a:prstGeom>
          <a:solidFill>
            <a:srgbClr val="F5F7FA"/>
          </a:solidFill>
          <a:ln>
            <a:solidFill>
              <a:srgbClr val="005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91C1D"/>
                </a:solidFill>
              </a:defRPr>
            </a:pPr>
            <a:r>
              <a:t>Infer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91C1D"/>
                </a:solidFill>
                <a:latin typeface="Segoe UI"/>
              </a:defRPr>
            </a:pPr>
            <a:r>
              <a:t>Dataset: UCI Diabetes 130-US hospitals (101.766 encuentros)</a:t>
            </a:r>
          </a:p>
          <a:p>
            <a:pPr>
              <a:spcAft>
                <a:spcPts val="1000"/>
              </a:spcAft>
              <a:defRPr sz="1700">
                <a:solidFill>
                  <a:srgbClr val="191C1D"/>
                </a:solidFill>
                <a:latin typeface="Segoe UI"/>
              </a:defRPr>
            </a:pPr>
            <a:r>
              <a:t>19 features clínicas · split 80/20 · random_state=42</a:t>
            </a:r>
          </a:p>
          <a:p>
            <a:pPr>
              <a:spcAft>
                <a:spcPts val="1000"/>
              </a:spcAft>
              <a:defRPr sz="1700">
                <a:solidFill>
                  <a:srgbClr val="191C1D"/>
                </a:solidFill>
                <a:latin typeface="Segoe UI"/>
              </a:defRPr>
            </a:pPr>
            <a:r>
              <a:t>Modelos: Logistic Regression, Random Forest, XGBoost</a:t>
            </a:r>
          </a:p>
          <a:p>
            <a:pPr>
              <a:spcAft>
                <a:spcPts val="1000"/>
              </a:spcAft>
              <a:defRPr sz="1700">
                <a:solidFill>
                  <a:srgbClr val="191C1D"/>
                </a:solidFill>
                <a:latin typeface="Segoe UI"/>
              </a:defRPr>
            </a:pPr>
            <a:r>
              <a:t>Artefactos: model.pkl, preprocessor.pkl, SHAP background</a:t>
            </a:r>
          </a:p>
          <a:p>
            <a:pPr>
              <a:spcAft>
                <a:spcPts val="1000"/>
              </a:spcAft>
              <a:defRPr sz="1700">
                <a:solidFill>
                  <a:srgbClr val="191C1D"/>
                </a:solidFill>
                <a:latin typeface="Segoe UI"/>
              </a:defRPr>
            </a:pPr>
            <a:r>
              <a:t>Nunca se reentrena en cada petición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Resultados ML (test hold-out)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7772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0058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0058B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0058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60,7 %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82,2 %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54,2 %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20,1 %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0,61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91C1D"/>
                          </a:solidFill>
                          <a:latin typeface="Segoe UI"/>
                        </a:defRPr>
                      </a:pPr>
                      <a:r>
                        <a:t>0,59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55448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91C1D"/>
                </a:solidFill>
                <a:latin typeface="Segoe UI"/>
              </a:defRPr>
            </a:pPr>
            <a:r>
              <a:t>Modelo en producción: Logistic Regression v1.0.0</a:t>
            </a:r>
          </a:p>
          <a:p>
            <a:pPr>
              <a:spcAft>
                <a:spcPts val="1000"/>
              </a:spcAft>
              <a:defRPr sz="1400">
                <a:solidFill>
                  <a:srgbClr val="191C1D"/>
                </a:solidFill>
                <a:latin typeface="Segoe UI"/>
              </a:defRPr>
            </a:pPr>
            <a:r>
              <a:t>Criterio: priorizar recall frente a accuracy pura</a:t>
            </a:r>
          </a:p>
          <a:p>
            <a:pPr>
              <a:spcAft>
                <a:spcPts val="1000"/>
              </a:spcAft>
              <a:defRPr sz="1400">
                <a:solidFill>
                  <a:srgbClr val="191C1D"/>
                </a:solidFill>
                <a:latin typeface="Segoe UI"/>
              </a:defRPr>
            </a:pPr>
            <a:r>
              <a:t>KPI accuracy &gt; 75 % no alcanzado — limitación documentada</a:t>
            </a:r>
          </a:p>
        </p:txBody>
      </p:sp>
      <p:pic>
        <p:nvPicPr>
          <p:cNvPr id="6" name="Picture 5" descr="02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3657600"/>
            <a:ext cx="3017520" cy="10754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Demostración en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58BC"/>
                </a:solidFill>
              </a:defRPr>
            </a:pPr>
            <a: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91C1D"/>
                </a:solidFill>
              </a:defRPr>
            </a:pPr>
            <a:r>
              <a:t>https://medscope-ai-delta.vercel.app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40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API: medscope-ai-q8tg.onrender.com</a:t>
            </a:r>
          </a:p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Casos sintéticos · sin datos reales de pacientes</a:t>
            </a:r>
          </a:p>
          <a:p>
            <a:pPr>
              <a:spcAft>
                <a:spcPts val="1000"/>
              </a:spcAft>
              <a:defRPr sz="1800">
                <a:solidFill>
                  <a:srgbClr val="191C1D"/>
                </a:solidFill>
                <a:latin typeface="Segoe UI"/>
              </a:defRPr>
            </a:pPr>
            <a:r>
              <a:t>A continuación: recorrido clínico completo en vídeo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Interfaz clínica — vistas clave</a:t>
            </a:r>
          </a:p>
        </p:txBody>
      </p:sp>
      <p:pic>
        <p:nvPicPr>
          <p:cNvPr id="4" name="Picture 3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94960" cy="2103120"/>
          </a:xfrm>
          <a:prstGeom prst="rect">
            <a:avLst/>
          </a:prstGeom>
        </p:spPr>
      </p:pic>
      <p:pic>
        <p:nvPicPr>
          <p:cNvPr id="5" name="Picture 4" descr="05_prediction_result_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2103120"/>
          </a:xfrm>
          <a:prstGeom prst="rect">
            <a:avLst/>
          </a:prstGeom>
        </p:spPr>
      </p:pic>
      <p:pic>
        <p:nvPicPr>
          <p:cNvPr id="6" name="Picture 5" descr="06_simu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57600"/>
            <a:ext cx="5394960" cy="2103120"/>
          </a:xfrm>
          <a:prstGeom prst="rect">
            <a:avLst/>
          </a:prstGeom>
        </p:spPr>
      </p:pic>
      <p:pic>
        <p:nvPicPr>
          <p:cNvPr id="7" name="Picture 6" descr="08_analyti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657600"/>
            <a:ext cx="539496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772"/>
                </a:solidFill>
                <a:latin typeface="Segoe UI"/>
              </a:defRPr>
            </a:pPr>
            <a:r>
              <a:t>Capturas reales de la aplicación (Playwright, T-808)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Calidad de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215+ tests backend (pytest) · cobertura ~95 %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Tests ML (RTS-010) · E2E Playwright flujo MVP completo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CI en GitHub Actions · despliegue automático en main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Esquema PostgreSQL en 3NF · migraciones Alembic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RBAC: admin, clinician, analyst, nurse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CDSS funcional end-to-end desplegado en cloud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Explicabilidad SHAP y simulación como diferencial frente a un clasificador opaco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Arquitectura enterprise lista para evolución (FHIR, multi-centro)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Transparencia sobre limitaciones del modelo (precision, generalización)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Contribución TFM: ingeniería + IA explicable, no solo accuracy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5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58BC"/>
                </a:solidFill>
                <a:latin typeface="Segoe UI"/>
              </a:defRPr>
            </a:pPr>
            <a:r>
              <a:t>Trabajo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Validación externa en otro hospital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Calibración de umbral y nuevas features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Integración FHIR / estándares clínicos</a:t>
            </a:r>
          </a:p>
          <a:p>
            <a:pPr>
              <a:spcAft>
                <a:spcPts val="1000"/>
              </a:spcAft>
              <a:defRPr sz="2000">
                <a:solidFill>
                  <a:srgbClr val="191C1D"/>
                </a:solidFill>
                <a:latin typeface="Segoe UI"/>
              </a:defRPr>
            </a:pPr>
            <a:r>
              <a:t>Mejora continua del modelo (ensemble, más datos)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58BC"/>
                </a:solidFill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85169" y="5303520"/>
            <a:ext cx="368261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C6772"/>
                </a:solidFill>
              </a:defRPr>
            </a:pPr>
            <a:r>
              <a:rPr lang="en-US" dirty="0"/>
              <a:t>gclara@gmail.com</a:t>
            </a:r>
          </a:p>
          <a:p>
            <a:pPr algn="ctr">
              <a:defRPr sz="1600">
                <a:solidFill>
                  <a:srgbClr val="5C6772"/>
                </a:solidFill>
              </a:defRPr>
            </a:pPr>
            <a:r>
              <a:rPr lang="en-US" dirty="0"/>
              <a:t>https://www.linkedin.com/in/gaston-clara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550</Words>
  <Application>Microsoft Office PowerPoint</Application>
  <PresentationFormat>Widescreen</PresentationFormat>
  <Paragraphs>91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Gastón Jorge Clara Mandiá</cp:lastModifiedBy>
  <cp:revision>2</cp:revision>
  <dcterms:created xsi:type="dcterms:W3CDTF">2013-01-27T09:14:16Z</dcterms:created>
  <dcterms:modified xsi:type="dcterms:W3CDTF">2026-07-02T13:08:14Z</dcterms:modified>
  <cp:category/>
</cp:coreProperties>
</file>